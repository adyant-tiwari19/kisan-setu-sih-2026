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nton" pitchFamily="2" charset="0"/>
      <p:regular r:id="rId9"/>
    </p:embeddedFont>
    <p:embeddedFont>
      <p:font typeface="Arial Bold" panose="020B0704020202020204" pitchFamily="34" charset="0"/>
      <p:regular r:id="rId10"/>
      <p:bold r:id="rId11"/>
    </p:embeddedFont>
    <p:embeddedFont>
      <p:font typeface="Arial Bold Italics" panose="020B0604020202020204" charset="0"/>
      <p:regular r:id="rId12"/>
    </p:embeddedFont>
    <p:embeddedFont>
      <p:font typeface="Bernoru SemiCondensed" panose="020B0604020202020204" charset="0"/>
      <p:regular r:id="rId13"/>
    </p:embeddedFont>
    <p:embeddedFont>
      <p:font typeface="Calibri (MS)" panose="020B0604020202020204" charset="0"/>
      <p:regular r:id="rId14"/>
    </p:embeddedFont>
    <p:embeddedFont>
      <p:font typeface="Canva Sans Bold" panose="020B0604020202020204" charset="0"/>
      <p:regular r:id="rId15"/>
    </p:embeddedFont>
    <p:embeddedFont>
      <p:font typeface="Garamond Bold" panose="02020804030307010803" pitchFamily="18" charset="0"/>
      <p:regular r:id="rId16"/>
      <p:bold r:id="rId17"/>
    </p:embeddedFont>
    <p:embeddedFont>
      <p:font typeface="Times New Roman Bold" panose="02020803070505020304" pitchFamily="18" charset="0"/>
      <p:regular r:id="rId18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658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tableStyles" Target="tableStyle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10.09.2026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0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7.png"/><Relationship Id="rId9" Type="http://schemas.openxmlformats.org/officeDocument/2006/relationships/hyperlink" Target="https://github.com/Adyant-Tiwari19/Farm-Direct/blob/main/kisansetu.apk" TargetMode="Externa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26" Type="http://schemas.openxmlformats.org/officeDocument/2006/relationships/image" Target="../media/image32.png"/><Relationship Id="rId3" Type="http://schemas.openxmlformats.org/officeDocument/2006/relationships/image" Target="../media/image3.jpeg"/><Relationship Id="rId21" Type="http://schemas.openxmlformats.org/officeDocument/2006/relationships/image" Target="../media/image27.png"/><Relationship Id="rId34" Type="http://schemas.openxmlformats.org/officeDocument/2006/relationships/image" Target="../media/image4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31.png"/><Relationship Id="rId33" Type="http://schemas.openxmlformats.org/officeDocument/2006/relationships/image" Target="../media/image39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29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0.png"/><Relationship Id="rId32" Type="http://schemas.openxmlformats.org/officeDocument/2006/relationships/image" Target="../media/image38.png"/><Relationship Id="rId5" Type="http://schemas.openxmlformats.org/officeDocument/2006/relationships/image" Target="../media/image5.jpe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28" Type="http://schemas.openxmlformats.org/officeDocument/2006/relationships/image" Target="../media/image34.png"/><Relationship Id="rId36" Type="http://schemas.openxmlformats.org/officeDocument/2006/relationships/image" Target="../media/image9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31" Type="http://schemas.openxmlformats.org/officeDocument/2006/relationships/image" Target="../media/image37.png"/><Relationship Id="rId4" Type="http://schemas.openxmlformats.org/officeDocument/2006/relationships/image" Target="../media/image4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Relationship Id="rId27" Type="http://schemas.openxmlformats.org/officeDocument/2006/relationships/image" Target="../media/image33.png"/><Relationship Id="rId30" Type="http://schemas.openxmlformats.org/officeDocument/2006/relationships/image" Target="../media/image36.png"/><Relationship Id="rId35" Type="http://schemas.openxmlformats.org/officeDocument/2006/relationships/image" Target="../media/image41.png"/><Relationship Id="rId8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18" Type="http://schemas.openxmlformats.org/officeDocument/2006/relationships/image" Target="../media/image5.jpeg"/><Relationship Id="rId3" Type="http://schemas.openxmlformats.org/officeDocument/2006/relationships/image" Target="../media/image42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17" Type="http://schemas.openxmlformats.org/officeDocument/2006/relationships/image" Target="../media/image55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5" Type="http://schemas.openxmlformats.org/officeDocument/2006/relationships/image" Target="../media/image53.png"/><Relationship Id="rId10" Type="http://schemas.openxmlformats.org/officeDocument/2006/relationships/image" Target="../media/image48.png"/><Relationship Id="rId19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47.png"/><Relationship Id="rId14" Type="http://schemas.openxmlformats.org/officeDocument/2006/relationships/image" Target="../media/image5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hehindu.com/news/%20national/niti-aayog-member-suggests%20changes-to-apmc-system-power-subsidy%20to-farmers/article67094736.ece" TargetMode="External"/><Relationship Id="rId13" Type="http://schemas.openxmlformats.org/officeDocument/2006/relationships/image" Target="../media/image9.png"/><Relationship Id="rId3" Type="http://schemas.openxmlformats.org/officeDocument/2006/relationships/image" Target="../media/image3.jpeg"/><Relationship Id="rId7" Type="http://schemas.openxmlformats.org/officeDocument/2006/relationships/hyperlink" Target="https://timesofindia.indiatimes.com/business/india-business/farmers-get-third%20of-veggies-retail-price-rbi-study/articleshow/113994248.cms" TargetMode="External"/><Relationship Id="rId12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11" Type="http://schemas.openxmlformats.org/officeDocument/2006/relationships/hyperlink" Target="https://thewire.in/economy/tomatoes-the-modi-government-has-made-a-pr-stunt-out-of-a-real-issue" TargetMode="External"/><Relationship Id="rId5" Type="http://schemas.openxmlformats.org/officeDocument/2006/relationships/image" Target="../media/image57.png"/><Relationship Id="rId10" Type="http://schemas.openxmlformats.org/officeDocument/2006/relationships/hyperlink" Target="https://www.downtoearth.org.in/agriculture" TargetMode="External"/><Relationship Id="rId4" Type="http://schemas.openxmlformats.org/officeDocument/2006/relationships/image" Target="../media/image56.png"/><Relationship Id="rId9" Type="http://schemas.openxmlformats.org/officeDocument/2006/relationships/hyperlink" Target="https://www.pib.gov.in/PressReleasePage.aspx?PRID=188503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85165" y="1277283"/>
            <a:ext cx="6957908" cy="7732452"/>
          </a:xfrm>
          <a:custGeom>
            <a:avLst/>
            <a:gdLst/>
            <a:ahLst/>
            <a:cxnLst/>
            <a:rect l="l" t="t" r="r" b="b"/>
            <a:pathLst>
              <a:path w="6957908" h="7732452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245631" y="-401871"/>
            <a:ext cx="12704158" cy="2545502"/>
            <a:chOff x="0" y="0"/>
            <a:chExt cx="20726400" cy="4152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726400" cy="4152900"/>
            </a:xfrm>
            <a:custGeom>
              <a:avLst/>
              <a:gdLst/>
              <a:ahLst/>
              <a:cxnLst/>
              <a:rect l="l" t="t" r="r" b="b"/>
              <a:pathLst>
                <a:path w="20726400" h="41529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246" b="-47246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02587" y="532400"/>
            <a:ext cx="17282827" cy="827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640"/>
              </a:lnSpc>
              <a:spcBef>
                <a:spcPct val="0"/>
              </a:spcBef>
            </a:pPr>
            <a:endParaRPr/>
          </a:p>
          <a:p>
            <a:pPr marL="651510" lvl="1" indent="-325755" algn="just">
              <a:lnSpc>
                <a:spcPts val="8640"/>
              </a:lnSpc>
              <a:spcBef>
                <a:spcPct val="0"/>
              </a:spcBef>
              <a:buFont typeface="Arial"/>
              <a:buChar char="•"/>
            </a:pPr>
            <a:r>
              <a:rPr lang="en-US" sz="3600" b="1" u="none" strike="noStrik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ID</a:t>
            </a:r>
            <a:r>
              <a:rPr lang="en-US" sz="3600" b="1" u="none" strike="noStrike">
                <a:solidFill>
                  <a:srgbClr val="0070C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– 26033</a:t>
            </a:r>
          </a:p>
          <a:p>
            <a:pPr marL="651510" lvl="1" indent="-325755" algn="just">
              <a:lnSpc>
                <a:spcPts val="7128"/>
              </a:lnSpc>
              <a:buFont typeface="Arial"/>
              <a:buChar char="•"/>
            </a:pPr>
            <a:r>
              <a:rPr lang="en-US" sz="3600" b="1" u="none" strike="noStrik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Title</a:t>
            </a:r>
            <a:r>
              <a:rPr lang="en-US" sz="3600" b="1" u="none" strike="noStrike">
                <a:solidFill>
                  <a:srgbClr val="0070C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- Multiple intermediaries reduce farmers earnings and</a:t>
            </a:r>
          </a:p>
          <a:p>
            <a:pPr algn="just">
              <a:lnSpc>
                <a:spcPts val="7128"/>
              </a:lnSpc>
            </a:pPr>
            <a:r>
              <a:rPr lang="en-US" sz="3600" b="1" u="none" strike="noStrike">
                <a:solidFill>
                  <a:srgbClr val="0070C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                                            increase consumer prices</a:t>
            </a:r>
          </a:p>
          <a:p>
            <a:pPr marL="651510" lvl="1" indent="-325755" algn="just">
              <a:lnSpc>
                <a:spcPts val="8640"/>
              </a:lnSpc>
              <a:spcBef>
                <a:spcPct val="0"/>
              </a:spcBef>
              <a:buFont typeface="Arial"/>
              <a:buChar char="•"/>
            </a:pPr>
            <a:r>
              <a:rPr lang="en-US" sz="3600" b="1" u="none" strike="noStrik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Theme</a:t>
            </a:r>
            <a:r>
              <a:rPr lang="en-US" sz="3600" b="1" u="none" strike="noStrike">
                <a:solidFill>
                  <a:srgbClr val="0070C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- Agriculture, Foodtech, Rural development</a:t>
            </a:r>
          </a:p>
          <a:p>
            <a:pPr marL="651510" lvl="1" indent="-325755" algn="just">
              <a:lnSpc>
                <a:spcPts val="8640"/>
              </a:lnSpc>
              <a:spcBef>
                <a:spcPct val="0"/>
              </a:spcBef>
              <a:buFont typeface="Arial"/>
              <a:buChar char="•"/>
            </a:pPr>
            <a:r>
              <a:rPr lang="en-US" sz="3600" b="1" u="none" strike="noStrik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PS Category</a:t>
            </a:r>
            <a:r>
              <a:rPr lang="en-US" sz="3600" b="1" u="none" strike="noStrike">
                <a:solidFill>
                  <a:srgbClr val="0070C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- Software</a:t>
            </a:r>
          </a:p>
          <a:p>
            <a:pPr marL="651510" lvl="1" indent="-325755" algn="just">
              <a:lnSpc>
                <a:spcPts val="8640"/>
              </a:lnSpc>
              <a:spcBef>
                <a:spcPct val="0"/>
              </a:spcBef>
              <a:buFont typeface="Arial"/>
              <a:buChar char="•"/>
            </a:pPr>
            <a:r>
              <a:rPr lang="en-US" sz="3600" b="1" u="none" strike="noStrik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ID-</a:t>
            </a:r>
          </a:p>
          <a:p>
            <a:pPr marL="651510" lvl="1" indent="-325755" algn="just">
              <a:lnSpc>
                <a:spcPts val="8640"/>
              </a:lnSpc>
              <a:spcBef>
                <a:spcPct val="0"/>
              </a:spcBef>
              <a:buFont typeface="Arial"/>
              <a:buChar char="•"/>
            </a:pPr>
            <a:r>
              <a:rPr lang="en-US" sz="3600" b="1" u="none" strike="noStrik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Name </a:t>
            </a:r>
            <a:r>
              <a:rPr lang="en-US" sz="3600" b="1" u="none" strike="noStrike">
                <a:solidFill>
                  <a:srgbClr val="0070C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– Smooth operators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4762045" y="9449"/>
            <a:ext cx="3313681" cy="1684306"/>
            <a:chOff x="0" y="0"/>
            <a:chExt cx="4418241" cy="2245741"/>
          </a:xfrm>
        </p:grpSpPr>
        <p:sp>
          <p:nvSpPr>
            <p:cNvPr id="8" name="Freeform 8" descr="https://www.sih.gov.in/img1/SIH-Logo.pn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4762045" y="28727"/>
            <a:ext cx="3331588" cy="1684306"/>
            <a:chOff x="0" y="0"/>
            <a:chExt cx="4442117" cy="224574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442079" cy="2245741"/>
            </a:xfrm>
            <a:custGeom>
              <a:avLst/>
              <a:gdLst/>
              <a:ahLst/>
              <a:cxnLst/>
              <a:rect l="l" t="t" r="r" b="b"/>
              <a:pathLst>
                <a:path w="4442079" h="2245741">
                  <a:moveTo>
                    <a:pt x="0" y="0"/>
                  </a:moveTo>
                  <a:lnTo>
                    <a:pt x="4442079" y="0"/>
                  </a:lnTo>
                  <a:lnTo>
                    <a:pt x="4442079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1247289" y="4005464"/>
            <a:ext cx="3840983" cy="4108030"/>
            <a:chOff x="0" y="0"/>
            <a:chExt cx="6407023" cy="685247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407023" cy="6852412"/>
            </a:xfrm>
            <a:custGeom>
              <a:avLst/>
              <a:gdLst/>
              <a:ahLst/>
              <a:cxnLst/>
              <a:rect l="l" t="t" r="r" b="b"/>
              <a:pathLst>
                <a:path w="6407023" h="6852412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-149475" b="-1"/>
              </a:stretch>
            </a:blipFill>
          </p:spPr>
        </p:sp>
      </p:grpSp>
      <p:sp>
        <p:nvSpPr>
          <p:cNvPr id="13" name="Freeform 13"/>
          <p:cNvSpPr/>
          <p:nvPr/>
        </p:nvSpPr>
        <p:spPr>
          <a:xfrm>
            <a:off x="15848002" y="8113494"/>
            <a:ext cx="2245631" cy="1380831"/>
          </a:xfrm>
          <a:custGeom>
            <a:avLst/>
            <a:gdLst/>
            <a:ahLst/>
            <a:cxnLst/>
            <a:rect l="l" t="t" r="r" b="b"/>
            <a:pathLst>
              <a:path w="2245631" h="1380831">
                <a:moveTo>
                  <a:pt x="0" y="0"/>
                </a:moveTo>
                <a:lnTo>
                  <a:pt x="2245631" y="0"/>
                </a:lnTo>
                <a:lnTo>
                  <a:pt x="2245631" y="1380832"/>
                </a:lnTo>
                <a:lnTo>
                  <a:pt x="0" y="13808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3244190" y="-188135"/>
            <a:ext cx="10723057" cy="1901168"/>
            <a:chOff x="0" y="0"/>
            <a:chExt cx="14297409" cy="2534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297409" cy="2534890"/>
            </a:xfrm>
            <a:custGeom>
              <a:avLst/>
              <a:gdLst/>
              <a:ahLst/>
              <a:cxnLst/>
              <a:rect l="l" t="t" r="r" b="b"/>
              <a:pathLst>
                <a:path w="14297409" h="2534890">
                  <a:moveTo>
                    <a:pt x="0" y="0"/>
                  </a:moveTo>
                  <a:lnTo>
                    <a:pt x="14297409" y="0"/>
                  </a:lnTo>
                  <a:lnTo>
                    <a:pt x="14297409" y="2534890"/>
                  </a:lnTo>
                  <a:lnTo>
                    <a:pt x="0" y="25348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3599" r="-53493" b="-11378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4297409" cy="25634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endParaRPr/>
            </a:p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KISAN SETU APP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762045" y="85649"/>
            <a:ext cx="3313681" cy="1684306"/>
            <a:chOff x="0" y="0"/>
            <a:chExt cx="4418241" cy="2245741"/>
          </a:xfrm>
        </p:grpSpPr>
        <p:sp>
          <p:nvSpPr>
            <p:cNvPr id="14" name="Freeform 14" descr="https://www.sih.gov.in/img1/SIH-Logo.pn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4762045" y="28727"/>
            <a:ext cx="3331588" cy="1684306"/>
            <a:chOff x="0" y="0"/>
            <a:chExt cx="4442117" cy="224574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442079" cy="2245741"/>
            </a:xfrm>
            <a:custGeom>
              <a:avLst/>
              <a:gdLst/>
              <a:ahLst/>
              <a:cxnLst/>
              <a:rect l="l" t="t" r="r" b="b"/>
              <a:pathLst>
                <a:path w="4442079" h="2245741">
                  <a:moveTo>
                    <a:pt x="0" y="0"/>
                  </a:moveTo>
                  <a:lnTo>
                    <a:pt x="4442079" y="0"/>
                  </a:lnTo>
                  <a:lnTo>
                    <a:pt x="4442079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497370" y="4230635"/>
            <a:ext cx="5052942" cy="4827396"/>
            <a:chOff x="0" y="0"/>
            <a:chExt cx="1291756" cy="123409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91756" cy="1234096"/>
            </a:xfrm>
            <a:custGeom>
              <a:avLst/>
              <a:gdLst/>
              <a:ahLst/>
              <a:cxnLst/>
              <a:rect l="l" t="t" r="r" b="b"/>
              <a:pathLst>
                <a:path w="1291756" h="1234096">
                  <a:moveTo>
                    <a:pt x="78140" y="0"/>
                  </a:moveTo>
                  <a:lnTo>
                    <a:pt x="1213616" y="0"/>
                  </a:lnTo>
                  <a:cubicBezTo>
                    <a:pt x="1234340" y="0"/>
                    <a:pt x="1254215" y="8233"/>
                    <a:pt x="1268869" y="22887"/>
                  </a:cubicBezTo>
                  <a:cubicBezTo>
                    <a:pt x="1283523" y="37541"/>
                    <a:pt x="1291756" y="57416"/>
                    <a:pt x="1291756" y="78140"/>
                  </a:cubicBezTo>
                  <a:lnTo>
                    <a:pt x="1291756" y="1155956"/>
                  </a:lnTo>
                  <a:cubicBezTo>
                    <a:pt x="1291756" y="1176680"/>
                    <a:pt x="1283523" y="1196556"/>
                    <a:pt x="1268869" y="1211210"/>
                  </a:cubicBezTo>
                  <a:cubicBezTo>
                    <a:pt x="1254215" y="1225864"/>
                    <a:pt x="1234340" y="1234096"/>
                    <a:pt x="1213616" y="1234096"/>
                  </a:cubicBezTo>
                  <a:lnTo>
                    <a:pt x="78140" y="1234096"/>
                  </a:lnTo>
                  <a:cubicBezTo>
                    <a:pt x="57416" y="1234096"/>
                    <a:pt x="37541" y="1225864"/>
                    <a:pt x="22887" y="1211210"/>
                  </a:cubicBezTo>
                  <a:cubicBezTo>
                    <a:pt x="8233" y="1196556"/>
                    <a:pt x="0" y="1176680"/>
                    <a:pt x="0" y="1155956"/>
                  </a:cubicBezTo>
                  <a:lnTo>
                    <a:pt x="0" y="78140"/>
                  </a:lnTo>
                  <a:cubicBezTo>
                    <a:pt x="0" y="57416"/>
                    <a:pt x="8233" y="37541"/>
                    <a:pt x="22887" y="22887"/>
                  </a:cubicBezTo>
                  <a:cubicBezTo>
                    <a:pt x="37541" y="8233"/>
                    <a:pt x="57416" y="0"/>
                    <a:pt x="78140" y="0"/>
                  </a:cubicBezTo>
                  <a:close/>
                </a:path>
              </a:pathLst>
            </a:custGeom>
            <a:solidFill>
              <a:srgbClr val="F4F6F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1291756" cy="12531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97370" y="1713033"/>
            <a:ext cx="5052942" cy="2253893"/>
            <a:chOff x="0" y="0"/>
            <a:chExt cx="1291756" cy="57619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91756" cy="576195"/>
            </a:xfrm>
            <a:custGeom>
              <a:avLst/>
              <a:gdLst/>
              <a:ahLst/>
              <a:cxnLst/>
              <a:rect l="l" t="t" r="r" b="b"/>
              <a:pathLst>
                <a:path w="1291756" h="576195">
                  <a:moveTo>
                    <a:pt x="78140" y="0"/>
                  </a:moveTo>
                  <a:lnTo>
                    <a:pt x="1213616" y="0"/>
                  </a:lnTo>
                  <a:cubicBezTo>
                    <a:pt x="1234340" y="0"/>
                    <a:pt x="1254215" y="8233"/>
                    <a:pt x="1268869" y="22887"/>
                  </a:cubicBezTo>
                  <a:cubicBezTo>
                    <a:pt x="1283523" y="37541"/>
                    <a:pt x="1291756" y="57416"/>
                    <a:pt x="1291756" y="78140"/>
                  </a:cubicBezTo>
                  <a:lnTo>
                    <a:pt x="1291756" y="498055"/>
                  </a:lnTo>
                  <a:cubicBezTo>
                    <a:pt x="1291756" y="518779"/>
                    <a:pt x="1283523" y="538654"/>
                    <a:pt x="1268869" y="553308"/>
                  </a:cubicBezTo>
                  <a:cubicBezTo>
                    <a:pt x="1254215" y="567962"/>
                    <a:pt x="1234340" y="576195"/>
                    <a:pt x="1213616" y="576195"/>
                  </a:cubicBezTo>
                  <a:lnTo>
                    <a:pt x="78140" y="576195"/>
                  </a:lnTo>
                  <a:cubicBezTo>
                    <a:pt x="34985" y="576195"/>
                    <a:pt x="0" y="541210"/>
                    <a:pt x="0" y="498055"/>
                  </a:cubicBezTo>
                  <a:lnTo>
                    <a:pt x="0" y="78140"/>
                  </a:lnTo>
                  <a:cubicBezTo>
                    <a:pt x="0" y="57416"/>
                    <a:pt x="8233" y="37541"/>
                    <a:pt x="22887" y="22887"/>
                  </a:cubicBezTo>
                  <a:cubicBezTo>
                    <a:pt x="37541" y="8233"/>
                    <a:pt x="57416" y="0"/>
                    <a:pt x="78140" y="0"/>
                  </a:cubicBezTo>
                  <a:close/>
                </a:path>
              </a:pathLst>
            </a:custGeom>
            <a:solidFill>
              <a:srgbClr val="F4F6F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1291756" cy="5952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634108" y="1769955"/>
            <a:ext cx="6441618" cy="3096020"/>
            <a:chOff x="0" y="0"/>
            <a:chExt cx="1646763" cy="79148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646763" cy="791480"/>
            </a:xfrm>
            <a:custGeom>
              <a:avLst/>
              <a:gdLst/>
              <a:ahLst/>
              <a:cxnLst/>
              <a:rect l="l" t="t" r="r" b="b"/>
              <a:pathLst>
                <a:path w="1646763" h="791480">
                  <a:moveTo>
                    <a:pt x="61295" y="0"/>
                  </a:moveTo>
                  <a:lnTo>
                    <a:pt x="1585468" y="0"/>
                  </a:lnTo>
                  <a:cubicBezTo>
                    <a:pt x="1619320" y="0"/>
                    <a:pt x="1646763" y="27443"/>
                    <a:pt x="1646763" y="61295"/>
                  </a:cubicBezTo>
                  <a:lnTo>
                    <a:pt x="1646763" y="730185"/>
                  </a:lnTo>
                  <a:cubicBezTo>
                    <a:pt x="1646763" y="764037"/>
                    <a:pt x="1619320" y="791480"/>
                    <a:pt x="1585468" y="791480"/>
                  </a:cubicBezTo>
                  <a:lnTo>
                    <a:pt x="61295" y="791480"/>
                  </a:lnTo>
                  <a:cubicBezTo>
                    <a:pt x="27443" y="791480"/>
                    <a:pt x="0" y="764037"/>
                    <a:pt x="0" y="730185"/>
                  </a:cubicBezTo>
                  <a:lnTo>
                    <a:pt x="0" y="61295"/>
                  </a:lnTo>
                  <a:cubicBezTo>
                    <a:pt x="0" y="27443"/>
                    <a:pt x="27443" y="0"/>
                    <a:pt x="61295" y="0"/>
                  </a:cubicBezTo>
                  <a:close/>
                </a:path>
              </a:pathLst>
            </a:custGeom>
            <a:solidFill>
              <a:srgbClr val="FFEB99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1646763" cy="810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717592" y="5056474"/>
            <a:ext cx="5358133" cy="3828116"/>
            <a:chOff x="0" y="0"/>
            <a:chExt cx="1369776" cy="97863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369776" cy="978636"/>
            </a:xfrm>
            <a:custGeom>
              <a:avLst/>
              <a:gdLst/>
              <a:ahLst/>
              <a:cxnLst/>
              <a:rect l="l" t="t" r="r" b="b"/>
              <a:pathLst>
                <a:path w="1369776" h="978636">
                  <a:moveTo>
                    <a:pt x="73689" y="0"/>
                  </a:moveTo>
                  <a:lnTo>
                    <a:pt x="1296087" y="0"/>
                  </a:lnTo>
                  <a:cubicBezTo>
                    <a:pt x="1336785" y="0"/>
                    <a:pt x="1369776" y="32992"/>
                    <a:pt x="1369776" y="73689"/>
                  </a:cubicBezTo>
                  <a:lnTo>
                    <a:pt x="1369776" y="904947"/>
                  </a:lnTo>
                  <a:cubicBezTo>
                    <a:pt x="1369776" y="945644"/>
                    <a:pt x="1336785" y="978636"/>
                    <a:pt x="1296087" y="978636"/>
                  </a:cubicBezTo>
                  <a:lnTo>
                    <a:pt x="73689" y="978636"/>
                  </a:lnTo>
                  <a:cubicBezTo>
                    <a:pt x="32992" y="978636"/>
                    <a:pt x="0" y="945644"/>
                    <a:pt x="0" y="904947"/>
                  </a:cubicBezTo>
                  <a:lnTo>
                    <a:pt x="0" y="73689"/>
                  </a:lnTo>
                  <a:cubicBezTo>
                    <a:pt x="0" y="32992"/>
                    <a:pt x="32992" y="0"/>
                    <a:pt x="73689" y="0"/>
                  </a:cubicBezTo>
                  <a:close/>
                </a:path>
              </a:pathLst>
            </a:custGeom>
            <a:solidFill>
              <a:srgbClr val="FFEB99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19050"/>
              <a:ext cx="1369776" cy="9976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918365" y="2276164"/>
            <a:ext cx="4342283" cy="6393874"/>
            <a:chOff x="0" y="0"/>
            <a:chExt cx="1110080" cy="163455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110080" cy="1634558"/>
            </a:xfrm>
            <a:custGeom>
              <a:avLst/>
              <a:gdLst/>
              <a:ahLst/>
              <a:cxnLst/>
              <a:rect l="l" t="t" r="r" b="b"/>
              <a:pathLst>
                <a:path w="1110080" h="1634558">
                  <a:moveTo>
                    <a:pt x="90929" y="0"/>
                  </a:moveTo>
                  <a:lnTo>
                    <a:pt x="1019151" y="0"/>
                  </a:lnTo>
                  <a:cubicBezTo>
                    <a:pt x="1043267" y="0"/>
                    <a:pt x="1066395" y="9580"/>
                    <a:pt x="1083448" y="26632"/>
                  </a:cubicBezTo>
                  <a:cubicBezTo>
                    <a:pt x="1100500" y="43685"/>
                    <a:pt x="1110080" y="66813"/>
                    <a:pt x="1110080" y="90929"/>
                  </a:cubicBezTo>
                  <a:lnTo>
                    <a:pt x="1110080" y="1543629"/>
                  </a:lnTo>
                  <a:cubicBezTo>
                    <a:pt x="1110080" y="1567745"/>
                    <a:pt x="1100500" y="1590873"/>
                    <a:pt x="1083448" y="1607925"/>
                  </a:cubicBezTo>
                  <a:cubicBezTo>
                    <a:pt x="1066395" y="1624978"/>
                    <a:pt x="1043267" y="1634558"/>
                    <a:pt x="1019151" y="1634558"/>
                  </a:cubicBezTo>
                  <a:lnTo>
                    <a:pt x="90929" y="1634558"/>
                  </a:lnTo>
                  <a:cubicBezTo>
                    <a:pt x="66813" y="1634558"/>
                    <a:pt x="43685" y="1624978"/>
                    <a:pt x="26632" y="1607925"/>
                  </a:cubicBezTo>
                  <a:cubicBezTo>
                    <a:pt x="9580" y="1590873"/>
                    <a:pt x="0" y="1567745"/>
                    <a:pt x="0" y="1543629"/>
                  </a:cubicBezTo>
                  <a:lnTo>
                    <a:pt x="0" y="90929"/>
                  </a:lnTo>
                  <a:cubicBezTo>
                    <a:pt x="0" y="66813"/>
                    <a:pt x="9580" y="43685"/>
                    <a:pt x="26632" y="26632"/>
                  </a:cubicBezTo>
                  <a:cubicBezTo>
                    <a:pt x="43685" y="9580"/>
                    <a:pt x="66813" y="0"/>
                    <a:pt x="90929" y="0"/>
                  </a:cubicBezTo>
                  <a:close/>
                </a:path>
              </a:pathLst>
            </a:custGeom>
            <a:solidFill>
              <a:srgbClr val="FFEB99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19050"/>
              <a:ext cx="1110080" cy="16536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33" name="Freeform 33"/>
          <p:cNvSpPr/>
          <p:nvPr/>
        </p:nvSpPr>
        <p:spPr>
          <a:xfrm>
            <a:off x="10628700" y="5056474"/>
            <a:ext cx="1460243" cy="2949985"/>
          </a:xfrm>
          <a:custGeom>
            <a:avLst/>
            <a:gdLst/>
            <a:ahLst/>
            <a:cxnLst/>
            <a:rect l="l" t="t" r="r" b="b"/>
            <a:pathLst>
              <a:path w="1460243" h="2949985">
                <a:moveTo>
                  <a:pt x="0" y="0"/>
                </a:moveTo>
                <a:lnTo>
                  <a:pt x="1460242" y="0"/>
                </a:lnTo>
                <a:lnTo>
                  <a:pt x="1460242" y="2949985"/>
                </a:lnTo>
                <a:lnTo>
                  <a:pt x="0" y="29499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10840582" y="6041992"/>
            <a:ext cx="1036478" cy="978949"/>
          </a:xfrm>
          <a:custGeom>
            <a:avLst/>
            <a:gdLst/>
            <a:ahLst/>
            <a:cxnLst/>
            <a:rect l="l" t="t" r="r" b="b"/>
            <a:pathLst>
              <a:path w="1036478" h="978949">
                <a:moveTo>
                  <a:pt x="0" y="0"/>
                </a:moveTo>
                <a:lnTo>
                  <a:pt x="1036478" y="0"/>
                </a:lnTo>
                <a:lnTo>
                  <a:pt x="1036478" y="978949"/>
                </a:lnTo>
                <a:lnTo>
                  <a:pt x="0" y="9789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104455" b="-33107"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625225" y="1948282"/>
            <a:ext cx="4797233" cy="1707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Proposed solution:</a:t>
            </a:r>
          </a:p>
          <a:p>
            <a:pPr algn="ctr">
              <a:lnSpc>
                <a:spcPts val="3185"/>
              </a:lnSpc>
              <a:spcBef>
                <a:spcPct val="0"/>
              </a:spcBef>
            </a:pPr>
            <a:r>
              <a:rPr lang="en-US" sz="22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a marketplace where farmers can sell their crops directly to the customers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56296" y="4494914"/>
            <a:ext cx="4535091" cy="4175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Unique features of our app: </a:t>
            </a:r>
          </a:p>
          <a:p>
            <a:pPr marL="499825" lvl="1" indent="-249913" algn="just">
              <a:lnSpc>
                <a:spcPts val="3241"/>
              </a:lnSpc>
              <a:buFont typeface="Arial"/>
              <a:buChar char="•"/>
            </a:pPr>
            <a:r>
              <a:rPr lang="en-US" sz="231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 based route optimisation and clustering algorithm.</a:t>
            </a:r>
          </a:p>
          <a:p>
            <a:pPr marL="499825" lvl="1" indent="-249913" algn="just">
              <a:lnSpc>
                <a:spcPts val="3241"/>
              </a:lnSpc>
              <a:buFont typeface="Arial"/>
              <a:buChar char="•"/>
            </a:pPr>
            <a:r>
              <a:rPr lang="en-US" sz="231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Smart seller ranking system which ranks the sellers on the basis of:</a:t>
            </a:r>
          </a:p>
          <a:p>
            <a:pPr algn="just">
              <a:lnSpc>
                <a:spcPts val="3241"/>
              </a:lnSpc>
            </a:pPr>
            <a:endParaRPr lang="en-US" sz="231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1B7895"/>
                </a:solidFill>
                <a:latin typeface="Arial Bold"/>
                <a:ea typeface="Arial Bold"/>
                <a:cs typeface="Arial Bold"/>
                <a:sym typeface="Arial Bold"/>
              </a:rPr>
              <a:t>30% price + 20% distance + 20% freshness + 15% reliability + 10% quality + 5% preference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993466" y="1957807"/>
            <a:ext cx="5856252" cy="2697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Bulk buyers:</a:t>
            </a:r>
          </a:p>
          <a:p>
            <a:pPr algn="l">
              <a:lnSpc>
                <a:spcPts val="3548"/>
              </a:lnSpc>
              <a:spcBef>
                <a:spcPct val="0"/>
              </a:spcBef>
            </a:pPr>
            <a:r>
              <a:rPr lang="en-US" sz="253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View available listings</a:t>
            </a:r>
          </a:p>
          <a:p>
            <a:pPr algn="l">
              <a:lnSpc>
                <a:spcPts val="3548"/>
              </a:lnSpc>
              <a:spcBef>
                <a:spcPct val="0"/>
              </a:spcBef>
            </a:pPr>
            <a:r>
              <a:rPr lang="en-US" sz="253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Search the best listing and contact the farmers directly to negotiate</a:t>
            </a:r>
          </a:p>
          <a:p>
            <a:pPr algn="l">
              <a:lnSpc>
                <a:spcPts val="3548"/>
              </a:lnSpc>
              <a:spcBef>
                <a:spcPct val="0"/>
              </a:spcBef>
            </a:pPr>
            <a:r>
              <a:rPr lang="en-US" sz="253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Place order, check order status and manage order history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100201" y="2492350"/>
            <a:ext cx="3978610" cy="5908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 Retail customers:</a:t>
            </a:r>
          </a:p>
          <a:p>
            <a:pPr algn="l">
              <a:lnSpc>
                <a:spcPts val="3362"/>
              </a:lnSpc>
              <a:spcBef>
                <a:spcPct val="0"/>
              </a:spcBef>
            </a:pPr>
            <a:endParaRPr lang="en-US" sz="2600" b="1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518534" lvl="1" indent="-259267" algn="l">
              <a:lnSpc>
                <a:spcPts val="3362"/>
              </a:lnSpc>
              <a:spcBef>
                <a:spcPct val="0"/>
              </a:spcBef>
              <a:buAutoNum type="arabicPeriod"/>
            </a:pPr>
            <a:r>
              <a:rPr lang="en-US" sz="24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View available listings</a:t>
            </a:r>
          </a:p>
          <a:p>
            <a:pPr marL="518534" lvl="1" indent="-259267" algn="l">
              <a:lnSpc>
                <a:spcPts val="3362"/>
              </a:lnSpc>
              <a:spcBef>
                <a:spcPct val="0"/>
              </a:spcBef>
              <a:buAutoNum type="arabicPeriod"/>
            </a:pPr>
            <a:r>
              <a:rPr lang="en-US" sz="24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Search the best listing among the displayed options. </a:t>
            </a:r>
          </a:p>
          <a:p>
            <a:pPr marL="518534" lvl="1" indent="-259267" algn="l">
              <a:lnSpc>
                <a:spcPts val="3362"/>
              </a:lnSpc>
              <a:spcBef>
                <a:spcPct val="0"/>
              </a:spcBef>
              <a:buAutoNum type="arabicPeriod"/>
            </a:pPr>
            <a:r>
              <a:rPr lang="en-US" sz="24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Sort the listings on the basis of distance, or price, or get the best AI pick.</a:t>
            </a:r>
          </a:p>
          <a:p>
            <a:pPr marL="518534" lvl="1" indent="-259267" algn="l">
              <a:lnSpc>
                <a:spcPts val="3362"/>
              </a:lnSpc>
              <a:spcBef>
                <a:spcPct val="0"/>
              </a:spcBef>
              <a:buAutoNum type="arabicPeriod"/>
            </a:pPr>
            <a:r>
              <a:rPr lang="en-US" sz="24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Place order &amp; make the payment</a:t>
            </a:r>
          </a:p>
          <a:p>
            <a:pPr marL="518534" lvl="1" indent="-259267" algn="l">
              <a:lnSpc>
                <a:spcPts val="3362"/>
              </a:lnSpc>
              <a:spcBef>
                <a:spcPct val="0"/>
              </a:spcBef>
              <a:buAutoNum type="arabicPeriod"/>
            </a:pPr>
            <a:r>
              <a:rPr lang="en-US" sz="24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Check the order and delivery status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850942" y="5705539"/>
            <a:ext cx="4998775" cy="2929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2" lvl="1" indent="-259081" algn="l">
              <a:lnSpc>
                <a:spcPts val="3360"/>
              </a:lnSpc>
              <a:spcBef>
                <a:spcPct val="0"/>
              </a:spcBef>
              <a:buAutoNum type="arabicPeriod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 the crops</a:t>
            </a:r>
          </a:p>
          <a:p>
            <a:pPr marL="518162" lvl="1" indent="-259081" algn="l">
              <a:lnSpc>
                <a:spcPts val="3360"/>
              </a:lnSpc>
              <a:spcBef>
                <a:spcPct val="0"/>
              </a:spcBef>
              <a:buAutoNum type="arabicPeriod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Update listing details like price and quantity.</a:t>
            </a:r>
          </a:p>
          <a:p>
            <a:pPr marL="518162" lvl="1" indent="-259081" algn="l">
              <a:lnSpc>
                <a:spcPts val="3360"/>
              </a:lnSpc>
              <a:spcBef>
                <a:spcPct val="0"/>
              </a:spcBef>
              <a:buAutoNum type="arabicPeriod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View and track orders</a:t>
            </a:r>
          </a:p>
          <a:p>
            <a:pPr marL="518162" lvl="1" indent="-259081" algn="l">
              <a:lnSpc>
                <a:spcPts val="3360"/>
              </a:lnSpc>
              <a:spcBef>
                <a:spcPct val="0"/>
              </a:spcBef>
              <a:buAutoNum type="arabicPeriod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 earnings</a:t>
            </a:r>
          </a:p>
          <a:p>
            <a:pPr marL="518162" lvl="1" indent="-259081" algn="l">
              <a:lnSpc>
                <a:spcPts val="3360"/>
              </a:lnSpc>
              <a:spcBef>
                <a:spcPct val="0"/>
              </a:spcBef>
              <a:buAutoNum type="arabicPeriod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Get the demand prediction for the crops.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641392" y="5123149"/>
            <a:ext cx="2445737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Farmers:</a:t>
            </a:r>
          </a:p>
        </p:txBody>
      </p:sp>
      <p:sp>
        <p:nvSpPr>
          <p:cNvPr id="41" name="AutoShape 41"/>
          <p:cNvSpPr/>
          <p:nvPr/>
        </p:nvSpPr>
        <p:spPr>
          <a:xfrm flipV="1">
            <a:off x="11358821" y="8006459"/>
            <a:ext cx="0" cy="39454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2" name="AutoShape 42"/>
          <p:cNvSpPr/>
          <p:nvPr/>
        </p:nvSpPr>
        <p:spPr>
          <a:xfrm>
            <a:off x="11358821" y="8401003"/>
            <a:ext cx="1358776" cy="2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3" name="AutoShape 43"/>
          <p:cNvSpPr/>
          <p:nvPr/>
        </p:nvSpPr>
        <p:spPr>
          <a:xfrm flipV="1">
            <a:off x="12432894" y="4865974"/>
            <a:ext cx="0" cy="16654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4" name="AutoShape 44"/>
          <p:cNvSpPr/>
          <p:nvPr/>
        </p:nvSpPr>
        <p:spPr>
          <a:xfrm>
            <a:off x="12088943" y="6531466"/>
            <a:ext cx="34395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5" name="AutoShape 45"/>
          <p:cNvSpPr/>
          <p:nvPr/>
        </p:nvSpPr>
        <p:spPr>
          <a:xfrm flipV="1">
            <a:off x="10260648" y="4561589"/>
            <a:ext cx="109817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6" name="AutoShape 46"/>
          <p:cNvSpPr/>
          <p:nvPr/>
        </p:nvSpPr>
        <p:spPr>
          <a:xfrm flipH="1" flipV="1">
            <a:off x="11358821" y="4561589"/>
            <a:ext cx="0" cy="61871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8" name="Freeform 62">
            <a:extLst>
              <a:ext uri="{FF2B5EF4-FFF2-40B4-BE49-F238E27FC236}">
                <a16:creationId xmlns:a16="http://schemas.microsoft.com/office/drawing/2014/main" id="{F089434A-93AC-B074-96C6-22F1FAFCDD44}"/>
              </a:ext>
            </a:extLst>
          </p:cNvPr>
          <p:cNvSpPr/>
          <p:nvPr/>
        </p:nvSpPr>
        <p:spPr>
          <a:xfrm>
            <a:off x="2327626" y="181720"/>
            <a:ext cx="1608815" cy="989255"/>
          </a:xfrm>
          <a:custGeom>
            <a:avLst/>
            <a:gdLst/>
            <a:ahLst/>
            <a:cxnLst/>
            <a:rect l="l" t="t" r="r" b="b"/>
            <a:pathLst>
              <a:path w="1608815" h="989255">
                <a:moveTo>
                  <a:pt x="0" y="0"/>
                </a:moveTo>
                <a:lnTo>
                  <a:pt x="1608814" y="0"/>
                </a:lnTo>
                <a:lnTo>
                  <a:pt x="1608814" y="989255"/>
                </a:lnTo>
                <a:lnTo>
                  <a:pt x="0" y="98925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49" name="Oval 48" descr="Your startup LOGO">
            <a:extLst>
              <a:ext uri="{FF2B5EF4-FFF2-40B4-BE49-F238E27FC236}">
                <a16:creationId xmlns:a16="http://schemas.microsoft.com/office/drawing/2014/main" id="{0C3665DA-6111-1ADE-E434-9ADE011C941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751946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Smooth Operators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796945"/>
            <a:ext cx="14278809" cy="1023222"/>
            <a:chOff x="0" y="0"/>
            <a:chExt cx="24837849" cy="136429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837850" cy="1364296"/>
            </a:xfrm>
            <a:custGeom>
              <a:avLst/>
              <a:gdLst/>
              <a:ahLst/>
              <a:cxnLst/>
              <a:rect l="l" t="t" r="r" b="b"/>
              <a:pathLst>
                <a:path w="24837850" h="1364296">
                  <a:moveTo>
                    <a:pt x="0" y="0"/>
                  </a:moveTo>
                  <a:lnTo>
                    <a:pt x="24837850" y="0"/>
                  </a:lnTo>
                  <a:lnTo>
                    <a:pt x="24837850" y="1364296"/>
                  </a:lnTo>
                  <a:lnTo>
                    <a:pt x="0" y="1364296"/>
                  </a:lnTo>
                  <a:close/>
                </a:path>
              </a:pathLst>
            </a:custGeom>
            <a:solidFill>
              <a:srgbClr val="1B7895"/>
            </a:solidFill>
          </p:spPr>
        </p:sp>
      </p:grpSp>
      <p:sp>
        <p:nvSpPr>
          <p:cNvPr id="4" name="Freeform 4"/>
          <p:cNvSpPr/>
          <p:nvPr/>
        </p:nvSpPr>
        <p:spPr>
          <a:xfrm flipH="1">
            <a:off x="-3" y="0"/>
            <a:ext cx="18288002" cy="10287000"/>
          </a:xfrm>
          <a:custGeom>
            <a:avLst/>
            <a:gdLst/>
            <a:ahLst/>
            <a:cxnLst/>
            <a:rect l="l" t="t" r="r" b="b"/>
            <a:pathLst>
              <a:path w="18081625" h="14826932">
                <a:moveTo>
                  <a:pt x="18081625" y="0"/>
                </a:moveTo>
                <a:lnTo>
                  <a:pt x="0" y="0"/>
                </a:lnTo>
                <a:lnTo>
                  <a:pt x="0" y="14826932"/>
                </a:lnTo>
                <a:lnTo>
                  <a:pt x="18081625" y="14826932"/>
                </a:lnTo>
                <a:lnTo>
                  <a:pt x="18081625" y="0"/>
                </a:lnTo>
                <a:close/>
              </a:path>
            </a:pathLst>
          </a:custGeom>
          <a:blipFill>
            <a:blip r:embed="rId3"/>
            <a:stretch>
              <a:fillRect t="-32963" b="-11170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42131" y="8378146"/>
            <a:ext cx="1845663" cy="1105413"/>
          </a:xfrm>
          <a:custGeom>
            <a:avLst/>
            <a:gdLst/>
            <a:ahLst/>
            <a:cxnLst/>
            <a:rect l="l" t="t" r="r" b="b"/>
            <a:pathLst>
              <a:path w="1845663" h="1105413">
                <a:moveTo>
                  <a:pt x="0" y="0"/>
                </a:moveTo>
                <a:lnTo>
                  <a:pt x="1845663" y="0"/>
                </a:lnTo>
                <a:lnTo>
                  <a:pt x="1845663" y="1105413"/>
                </a:lnTo>
                <a:lnTo>
                  <a:pt x="0" y="11054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 t="-228" b="-2438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4036347" y="483904"/>
            <a:ext cx="11443346" cy="1649304"/>
            <a:chOff x="0" y="0"/>
            <a:chExt cx="15860923" cy="228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860923" cy="2286000"/>
            </a:xfrm>
            <a:custGeom>
              <a:avLst/>
              <a:gdLst/>
              <a:ahLst/>
              <a:cxnLst/>
              <a:rect l="l" t="t" r="r" b="b"/>
              <a:pathLst>
                <a:path w="15860923" h="2286000">
                  <a:moveTo>
                    <a:pt x="0" y="0"/>
                  </a:moveTo>
                  <a:lnTo>
                    <a:pt x="15860923" y="0"/>
                  </a:lnTo>
                  <a:lnTo>
                    <a:pt x="15860923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37056" r="-38362" b="-137056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5860923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@SIH Idea submission- Template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762045" y="85649"/>
            <a:ext cx="3313681" cy="1684306"/>
            <a:chOff x="0" y="0"/>
            <a:chExt cx="4418241" cy="2245741"/>
          </a:xfrm>
        </p:grpSpPr>
        <p:sp>
          <p:nvSpPr>
            <p:cNvPr id="18" name="Freeform 18" descr="https://www.sih.gov.in/img1/SIH-Logo.pn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14762045" y="28727"/>
            <a:ext cx="3331588" cy="1684306"/>
            <a:chOff x="0" y="0"/>
            <a:chExt cx="4442117" cy="224574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442079" cy="2245741"/>
            </a:xfrm>
            <a:custGeom>
              <a:avLst/>
              <a:gdLst/>
              <a:ahLst/>
              <a:cxnLst/>
              <a:rect l="l" t="t" r="r" b="b"/>
              <a:pathLst>
                <a:path w="4442079" h="2245741">
                  <a:moveTo>
                    <a:pt x="0" y="0"/>
                  </a:moveTo>
                  <a:lnTo>
                    <a:pt x="4442079" y="0"/>
                  </a:lnTo>
                  <a:lnTo>
                    <a:pt x="4442079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21" name="Freeform 21"/>
          <p:cNvSpPr/>
          <p:nvPr/>
        </p:nvSpPr>
        <p:spPr>
          <a:xfrm>
            <a:off x="10364086" y="2860516"/>
            <a:ext cx="7703098" cy="5182816"/>
          </a:xfrm>
          <a:custGeom>
            <a:avLst/>
            <a:gdLst/>
            <a:ahLst/>
            <a:cxnLst/>
            <a:rect l="l" t="t" r="r" b="b"/>
            <a:pathLst>
              <a:path w="7703098" h="5182816">
                <a:moveTo>
                  <a:pt x="0" y="0"/>
                </a:moveTo>
                <a:lnTo>
                  <a:pt x="7703097" y="0"/>
                </a:lnTo>
                <a:lnTo>
                  <a:pt x="7703097" y="5182815"/>
                </a:lnTo>
                <a:lnTo>
                  <a:pt x="0" y="518281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723" b="-723"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0" y="852884"/>
            <a:ext cx="5827452" cy="2301566"/>
            <a:chOff x="0" y="0"/>
            <a:chExt cx="1471068" cy="58100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471068" cy="581002"/>
            </a:xfrm>
            <a:custGeom>
              <a:avLst/>
              <a:gdLst/>
              <a:ahLst/>
              <a:cxnLst/>
              <a:rect l="l" t="t" r="r" b="b"/>
              <a:pathLst>
                <a:path w="1471068" h="581002">
                  <a:moveTo>
                    <a:pt x="1471068" y="290501"/>
                  </a:moveTo>
                  <a:lnTo>
                    <a:pt x="1267868" y="581002"/>
                  </a:lnTo>
                  <a:lnTo>
                    <a:pt x="203200" y="581002"/>
                  </a:lnTo>
                  <a:lnTo>
                    <a:pt x="0" y="290501"/>
                  </a:lnTo>
                  <a:lnTo>
                    <a:pt x="203200" y="0"/>
                  </a:lnTo>
                  <a:lnTo>
                    <a:pt x="1267868" y="0"/>
                  </a:lnTo>
                  <a:lnTo>
                    <a:pt x="1471068" y="290501"/>
                  </a:lnTo>
                  <a:close/>
                </a:path>
              </a:pathLst>
            </a:custGeom>
            <a:solidFill>
              <a:srgbClr val="9BDBB3"/>
            </a:solidFill>
            <a:ln cap="sq">
              <a:noFill/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4300" y="-19050"/>
              <a:ext cx="1242468" cy="6000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1878929" y="8176035"/>
            <a:ext cx="5494671" cy="816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9"/>
              </a:lnSpc>
              <a:spcBef>
                <a:spcPct val="0"/>
              </a:spcBef>
            </a:pPr>
            <a:r>
              <a:rPr lang="en-US" sz="2349" b="1" u="sng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RELATIONAL MODEL REPRESENTING OUR DATABASE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8700" y="971550"/>
            <a:ext cx="5827452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Frontend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467904" y="1529431"/>
            <a:ext cx="1630836" cy="566961"/>
            <a:chOff x="0" y="0"/>
            <a:chExt cx="1042614" cy="36246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42614" cy="362465"/>
            </a:xfrm>
            <a:custGeom>
              <a:avLst/>
              <a:gdLst/>
              <a:ahLst/>
              <a:cxnLst/>
              <a:rect l="l" t="t" r="r" b="b"/>
              <a:pathLst>
                <a:path w="1042614" h="362465">
                  <a:moveTo>
                    <a:pt x="1042614" y="181233"/>
                  </a:moveTo>
                  <a:lnTo>
                    <a:pt x="839414" y="362465"/>
                  </a:lnTo>
                  <a:lnTo>
                    <a:pt x="203200" y="362465"/>
                  </a:lnTo>
                  <a:lnTo>
                    <a:pt x="0" y="181233"/>
                  </a:lnTo>
                  <a:lnTo>
                    <a:pt x="203200" y="0"/>
                  </a:lnTo>
                  <a:lnTo>
                    <a:pt x="839414" y="0"/>
                  </a:lnTo>
                  <a:lnTo>
                    <a:pt x="1042614" y="18123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14300" y="-9525"/>
              <a:ext cx="814014" cy="3719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React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2201845" y="1529431"/>
            <a:ext cx="2165510" cy="566961"/>
            <a:chOff x="0" y="0"/>
            <a:chExt cx="1384438" cy="36246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384437" cy="362465"/>
            </a:xfrm>
            <a:custGeom>
              <a:avLst/>
              <a:gdLst/>
              <a:ahLst/>
              <a:cxnLst/>
              <a:rect l="l" t="t" r="r" b="b"/>
              <a:pathLst>
                <a:path w="1384437" h="362465">
                  <a:moveTo>
                    <a:pt x="1384437" y="181233"/>
                  </a:moveTo>
                  <a:lnTo>
                    <a:pt x="1181237" y="362465"/>
                  </a:lnTo>
                  <a:lnTo>
                    <a:pt x="203200" y="362465"/>
                  </a:lnTo>
                  <a:lnTo>
                    <a:pt x="0" y="181233"/>
                  </a:lnTo>
                  <a:lnTo>
                    <a:pt x="203200" y="0"/>
                  </a:lnTo>
                  <a:lnTo>
                    <a:pt x="1181237" y="0"/>
                  </a:lnTo>
                  <a:lnTo>
                    <a:pt x="1384437" y="18123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14300" y="-9525"/>
              <a:ext cx="1155838" cy="3719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TailWind CSS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470461" y="1567531"/>
            <a:ext cx="988310" cy="490761"/>
            <a:chOff x="0" y="0"/>
            <a:chExt cx="676583" cy="33596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76583" cy="335968"/>
            </a:xfrm>
            <a:custGeom>
              <a:avLst/>
              <a:gdLst/>
              <a:ahLst/>
              <a:cxnLst/>
              <a:rect l="l" t="t" r="r" b="b"/>
              <a:pathLst>
                <a:path w="676583" h="335968">
                  <a:moveTo>
                    <a:pt x="676583" y="167984"/>
                  </a:moveTo>
                  <a:lnTo>
                    <a:pt x="473383" y="335968"/>
                  </a:lnTo>
                  <a:lnTo>
                    <a:pt x="203200" y="335968"/>
                  </a:lnTo>
                  <a:lnTo>
                    <a:pt x="0" y="167984"/>
                  </a:lnTo>
                  <a:lnTo>
                    <a:pt x="203200" y="0"/>
                  </a:lnTo>
                  <a:lnTo>
                    <a:pt x="473383" y="0"/>
                  </a:lnTo>
                  <a:lnTo>
                    <a:pt x="676583" y="167984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14300" y="-9525"/>
              <a:ext cx="447983" cy="3454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Vite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83052" y="2353567"/>
            <a:ext cx="1759158" cy="566961"/>
            <a:chOff x="0" y="0"/>
            <a:chExt cx="1124651" cy="362465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124651" cy="362465"/>
            </a:xfrm>
            <a:custGeom>
              <a:avLst/>
              <a:gdLst/>
              <a:ahLst/>
              <a:cxnLst/>
              <a:rect l="l" t="t" r="r" b="b"/>
              <a:pathLst>
                <a:path w="1124651" h="362465">
                  <a:moveTo>
                    <a:pt x="1124651" y="181233"/>
                  </a:moveTo>
                  <a:lnTo>
                    <a:pt x="921451" y="362465"/>
                  </a:lnTo>
                  <a:lnTo>
                    <a:pt x="203200" y="362465"/>
                  </a:lnTo>
                  <a:lnTo>
                    <a:pt x="0" y="181233"/>
                  </a:lnTo>
                  <a:lnTo>
                    <a:pt x="203200" y="0"/>
                  </a:lnTo>
                  <a:lnTo>
                    <a:pt x="921451" y="0"/>
                  </a:lnTo>
                  <a:lnTo>
                    <a:pt x="1124651" y="18123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14300" y="-9525"/>
              <a:ext cx="896051" cy="3719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TypeScript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2442210" y="2353567"/>
            <a:ext cx="1374193" cy="566961"/>
            <a:chOff x="0" y="0"/>
            <a:chExt cx="878538" cy="362465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78538" cy="362465"/>
            </a:xfrm>
            <a:custGeom>
              <a:avLst/>
              <a:gdLst/>
              <a:ahLst/>
              <a:cxnLst/>
              <a:rect l="l" t="t" r="r" b="b"/>
              <a:pathLst>
                <a:path w="878538" h="362465">
                  <a:moveTo>
                    <a:pt x="878538" y="181233"/>
                  </a:moveTo>
                  <a:lnTo>
                    <a:pt x="675338" y="362465"/>
                  </a:lnTo>
                  <a:lnTo>
                    <a:pt x="203200" y="362465"/>
                  </a:lnTo>
                  <a:lnTo>
                    <a:pt x="0" y="181233"/>
                  </a:lnTo>
                  <a:lnTo>
                    <a:pt x="203200" y="0"/>
                  </a:lnTo>
                  <a:lnTo>
                    <a:pt x="675338" y="0"/>
                  </a:lnTo>
                  <a:lnTo>
                    <a:pt x="878538" y="18123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14300" y="-9525"/>
              <a:ext cx="649938" cy="3719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Node.js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3816402" y="2353567"/>
            <a:ext cx="1375331" cy="566961"/>
            <a:chOff x="0" y="0"/>
            <a:chExt cx="879266" cy="362465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79266" cy="362465"/>
            </a:xfrm>
            <a:custGeom>
              <a:avLst/>
              <a:gdLst/>
              <a:ahLst/>
              <a:cxnLst/>
              <a:rect l="l" t="t" r="r" b="b"/>
              <a:pathLst>
                <a:path w="879266" h="362465">
                  <a:moveTo>
                    <a:pt x="879266" y="181233"/>
                  </a:moveTo>
                  <a:lnTo>
                    <a:pt x="676066" y="362465"/>
                  </a:lnTo>
                  <a:lnTo>
                    <a:pt x="203200" y="362465"/>
                  </a:lnTo>
                  <a:lnTo>
                    <a:pt x="0" y="181233"/>
                  </a:lnTo>
                  <a:lnTo>
                    <a:pt x="203200" y="0"/>
                  </a:lnTo>
                  <a:lnTo>
                    <a:pt x="676066" y="0"/>
                  </a:lnTo>
                  <a:lnTo>
                    <a:pt x="879266" y="18123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14300" y="-9525"/>
              <a:ext cx="650666" cy="3719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i18Next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0" y="3297325"/>
            <a:ext cx="5827452" cy="2301566"/>
            <a:chOff x="0" y="0"/>
            <a:chExt cx="1471068" cy="581002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471068" cy="581002"/>
            </a:xfrm>
            <a:custGeom>
              <a:avLst/>
              <a:gdLst/>
              <a:ahLst/>
              <a:cxnLst/>
              <a:rect l="l" t="t" r="r" b="b"/>
              <a:pathLst>
                <a:path w="1471068" h="581002">
                  <a:moveTo>
                    <a:pt x="1471068" y="290501"/>
                  </a:moveTo>
                  <a:lnTo>
                    <a:pt x="1267868" y="581002"/>
                  </a:lnTo>
                  <a:lnTo>
                    <a:pt x="203200" y="581002"/>
                  </a:lnTo>
                  <a:lnTo>
                    <a:pt x="0" y="290501"/>
                  </a:lnTo>
                  <a:lnTo>
                    <a:pt x="203200" y="0"/>
                  </a:lnTo>
                  <a:lnTo>
                    <a:pt x="1267868" y="0"/>
                  </a:lnTo>
                  <a:lnTo>
                    <a:pt x="1471068" y="290501"/>
                  </a:lnTo>
                  <a:close/>
                </a:path>
              </a:pathLst>
            </a:custGeom>
            <a:solidFill>
              <a:srgbClr val="E9CEB4"/>
            </a:solidFill>
            <a:ln cap="sq">
              <a:noFill/>
              <a:prstDash val="solid"/>
              <a:miter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14300" y="-19050"/>
              <a:ext cx="1242468" cy="6000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028700" y="3415991"/>
            <a:ext cx="5827452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Backend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467904" y="3973872"/>
            <a:ext cx="1630836" cy="566961"/>
            <a:chOff x="0" y="0"/>
            <a:chExt cx="1042614" cy="362465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042614" cy="362465"/>
            </a:xfrm>
            <a:custGeom>
              <a:avLst/>
              <a:gdLst/>
              <a:ahLst/>
              <a:cxnLst/>
              <a:rect l="l" t="t" r="r" b="b"/>
              <a:pathLst>
                <a:path w="1042614" h="362465">
                  <a:moveTo>
                    <a:pt x="1042614" y="181233"/>
                  </a:moveTo>
                  <a:lnTo>
                    <a:pt x="839414" y="362465"/>
                  </a:lnTo>
                  <a:lnTo>
                    <a:pt x="203200" y="362465"/>
                  </a:lnTo>
                  <a:lnTo>
                    <a:pt x="0" y="181233"/>
                  </a:lnTo>
                  <a:lnTo>
                    <a:pt x="203200" y="0"/>
                  </a:lnTo>
                  <a:lnTo>
                    <a:pt x="839414" y="0"/>
                  </a:lnTo>
                  <a:lnTo>
                    <a:pt x="1042614" y="18123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14300" y="-9525"/>
              <a:ext cx="814014" cy="3719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Python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2201845" y="3973872"/>
            <a:ext cx="2165510" cy="566961"/>
            <a:chOff x="0" y="0"/>
            <a:chExt cx="1384438" cy="362465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384437" cy="362465"/>
            </a:xfrm>
            <a:custGeom>
              <a:avLst/>
              <a:gdLst/>
              <a:ahLst/>
              <a:cxnLst/>
              <a:rect l="l" t="t" r="r" b="b"/>
              <a:pathLst>
                <a:path w="1384437" h="362465">
                  <a:moveTo>
                    <a:pt x="1384437" y="181233"/>
                  </a:moveTo>
                  <a:lnTo>
                    <a:pt x="1181237" y="362465"/>
                  </a:lnTo>
                  <a:lnTo>
                    <a:pt x="203200" y="362465"/>
                  </a:lnTo>
                  <a:lnTo>
                    <a:pt x="0" y="181233"/>
                  </a:lnTo>
                  <a:lnTo>
                    <a:pt x="203200" y="0"/>
                  </a:lnTo>
                  <a:lnTo>
                    <a:pt x="1181237" y="0"/>
                  </a:lnTo>
                  <a:lnTo>
                    <a:pt x="1384437" y="18123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14300" y="-9525"/>
              <a:ext cx="1155838" cy="3719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SQLAlchemy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4504068" y="4011972"/>
            <a:ext cx="988310" cy="490761"/>
            <a:chOff x="0" y="0"/>
            <a:chExt cx="676583" cy="335968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676583" cy="335968"/>
            </a:xfrm>
            <a:custGeom>
              <a:avLst/>
              <a:gdLst/>
              <a:ahLst/>
              <a:cxnLst/>
              <a:rect l="l" t="t" r="r" b="b"/>
              <a:pathLst>
                <a:path w="676583" h="335968">
                  <a:moveTo>
                    <a:pt x="676583" y="167984"/>
                  </a:moveTo>
                  <a:lnTo>
                    <a:pt x="473383" y="335968"/>
                  </a:lnTo>
                  <a:lnTo>
                    <a:pt x="203200" y="335968"/>
                  </a:lnTo>
                  <a:lnTo>
                    <a:pt x="0" y="167984"/>
                  </a:lnTo>
                  <a:lnTo>
                    <a:pt x="203200" y="0"/>
                  </a:lnTo>
                  <a:lnTo>
                    <a:pt x="473383" y="0"/>
                  </a:lnTo>
                  <a:lnTo>
                    <a:pt x="676583" y="167984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14300" y="-9525"/>
              <a:ext cx="447983" cy="3454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JWT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83052" y="4798008"/>
            <a:ext cx="1625808" cy="566961"/>
            <a:chOff x="0" y="0"/>
            <a:chExt cx="1039399" cy="362465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039399" cy="362465"/>
            </a:xfrm>
            <a:custGeom>
              <a:avLst/>
              <a:gdLst/>
              <a:ahLst/>
              <a:cxnLst/>
              <a:rect l="l" t="t" r="r" b="b"/>
              <a:pathLst>
                <a:path w="1039399" h="362465">
                  <a:moveTo>
                    <a:pt x="1039399" y="181233"/>
                  </a:moveTo>
                  <a:lnTo>
                    <a:pt x="836199" y="362465"/>
                  </a:lnTo>
                  <a:lnTo>
                    <a:pt x="203200" y="362465"/>
                  </a:lnTo>
                  <a:lnTo>
                    <a:pt x="0" y="181233"/>
                  </a:lnTo>
                  <a:lnTo>
                    <a:pt x="203200" y="0"/>
                  </a:lnTo>
                  <a:lnTo>
                    <a:pt x="836199" y="0"/>
                  </a:lnTo>
                  <a:lnTo>
                    <a:pt x="1039399" y="18123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14300" y="-9525"/>
              <a:ext cx="810799" cy="3719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PyDantic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2375535" y="4798008"/>
            <a:ext cx="1374193" cy="566961"/>
            <a:chOff x="0" y="0"/>
            <a:chExt cx="878538" cy="362465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878538" cy="362465"/>
            </a:xfrm>
            <a:custGeom>
              <a:avLst/>
              <a:gdLst/>
              <a:ahLst/>
              <a:cxnLst/>
              <a:rect l="l" t="t" r="r" b="b"/>
              <a:pathLst>
                <a:path w="878538" h="362465">
                  <a:moveTo>
                    <a:pt x="878538" y="181233"/>
                  </a:moveTo>
                  <a:lnTo>
                    <a:pt x="675338" y="362465"/>
                  </a:lnTo>
                  <a:lnTo>
                    <a:pt x="203200" y="362465"/>
                  </a:lnTo>
                  <a:lnTo>
                    <a:pt x="0" y="181233"/>
                  </a:lnTo>
                  <a:lnTo>
                    <a:pt x="203200" y="0"/>
                  </a:lnTo>
                  <a:lnTo>
                    <a:pt x="675338" y="0"/>
                  </a:lnTo>
                  <a:lnTo>
                    <a:pt x="878538" y="18123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14300" y="-9525"/>
              <a:ext cx="649938" cy="3719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FastAPI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3816402" y="4798008"/>
            <a:ext cx="1375331" cy="566961"/>
            <a:chOff x="0" y="0"/>
            <a:chExt cx="879266" cy="362465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879266" cy="362465"/>
            </a:xfrm>
            <a:custGeom>
              <a:avLst/>
              <a:gdLst/>
              <a:ahLst/>
              <a:cxnLst/>
              <a:rect l="l" t="t" r="r" b="b"/>
              <a:pathLst>
                <a:path w="879266" h="362465">
                  <a:moveTo>
                    <a:pt x="879266" y="181233"/>
                  </a:moveTo>
                  <a:lnTo>
                    <a:pt x="676066" y="362465"/>
                  </a:lnTo>
                  <a:lnTo>
                    <a:pt x="203200" y="362465"/>
                  </a:lnTo>
                  <a:lnTo>
                    <a:pt x="0" y="181233"/>
                  </a:lnTo>
                  <a:lnTo>
                    <a:pt x="203200" y="0"/>
                  </a:lnTo>
                  <a:lnTo>
                    <a:pt x="676066" y="0"/>
                  </a:lnTo>
                  <a:lnTo>
                    <a:pt x="879266" y="18123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114300" y="-9525"/>
              <a:ext cx="650666" cy="3719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OAuth2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0" y="5741766"/>
            <a:ext cx="5827452" cy="2301566"/>
            <a:chOff x="0" y="0"/>
            <a:chExt cx="1471068" cy="581002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1471068" cy="581002"/>
            </a:xfrm>
            <a:custGeom>
              <a:avLst/>
              <a:gdLst/>
              <a:ahLst/>
              <a:cxnLst/>
              <a:rect l="l" t="t" r="r" b="b"/>
              <a:pathLst>
                <a:path w="1471068" h="581002">
                  <a:moveTo>
                    <a:pt x="1471068" y="290501"/>
                  </a:moveTo>
                  <a:lnTo>
                    <a:pt x="1267868" y="581002"/>
                  </a:lnTo>
                  <a:lnTo>
                    <a:pt x="203200" y="581002"/>
                  </a:lnTo>
                  <a:lnTo>
                    <a:pt x="0" y="290501"/>
                  </a:lnTo>
                  <a:lnTo>
                    <a:pt x="203200" y="0"/>
                  </a:lnTo>
                  <a:lnTo>
                    <a:pt x="1267868" y="0"/>
                  </a:lnTo>
                  <a:lnTo>
                    <a:pt x="1471068" y="290501"/>
                  </a:lnTo>
                  <a:close/>
                </a:path>
              </a:pathLst>
            </a:custGeom>
            <a:solidFill>
              <a:srgbClr val="D9E0FF"/>
            </a:solidFill>
            <a:ln cap="sq">
              <a:noFill/>
              <a:prstDash val="solid"/>
              <a:miter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14300" y="-19050"/>
              <a:ext cx="1242468" cy="6000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0" name="TextBox 70"/>
          <p:cNvSpPr txBox="1"/>
          <p:nvPr/>
        </p:nvSpPr>
        <p:spPr>
          <a:xfrm>
            <a:off x="1028700" y="5860431"/>
            <a:ext cx="5827452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Data &amp; Intelligence</a:t>
            </a:r>
          </a:p>
        </p:txBody>
      </p:sp>
      <p:grpSp>
        <p:nvGrpSpPr>
          <p:cNvPr id="71" name="Group 71"/>
          <p:cNvGrpSpPr/>
          <p:nvPr/>
        </p:nvGrpSpPr>
        <p:grpSpPr>
          <a:xfrm>
            <a:off x="242131" y="6504180"/>
            <a:ext cx="1893039" cy="566961"/>
            <a:chOff x="0" y="0"/>
            <a:chExt cx="1210243" cy="362465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1210243" cy="362465"/>
            </a:xfrm>
            <a:custGeom>
              <a:avLst/>
              <a:gdLst/>
              <a:ahLst/>
              <a:cxnLst/>
              <a:rect l="l" t="t" r="r" b="b"/>
              <a:pathLst>
                <a:path w="1210243" h="362465">
                  <a:moveTo>
                    <a:pt x="1210243" y="181233"/>
                  </a:moveTo>
                  <a:lnTo>
                    <a:pt x="1007043" y="362465"/>
                  </a:lnTo>
                  <a:lnTo>
                    <a:pt x="203200" y="362465"/>
                  </a:lnTo>
                  <a:lnTo>
                    <a:pt x="0" y="181233"/>
                  </a:lnTo>
                  <a:lnTo>
                    <a:pt x="203200" y="0"/>
                  </a:lnTo>
                  <a:lnTo>
                    <a:pt x="1007043" y="0"/>
                  </a:lnTo>
                  <a:lnTo>
                    <a:pt x="1210243" y="18123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14300" y="-9525"/>
              <a:ext cx="981643" cy="3719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PostGreSQL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2201845" y="6504180"/>
            <a:ext cx="1416966" cy="566961"/>
            <a:chOff x="0" y="0"/>
            <a:chExt cx="905884" cy="362465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905884" cy="362465"/>
            </a:xfrm>
            <a:custGeom>
              <a:avLst/>
              <a:gdLst/>
              <a:ahLst/>
              <a:cxnLst/>
              <a:rect l="l" t="t" r="r" b="b"/>
              <a:pathLst>
                <a:path w="905884" h="362465">
                  <a:moveTo>
                    <a:pt x="905884" y="181233"/>
                  </a:moveTo>
                  <a:lnTo>
                    <a:pt x="702684" y="362465"/>
                  </a:lnTo>
                  <a:lnTo>
                    <a:pt x="203200" y="362465"/>
                  </a:lnTo>
                  <a:lnTo>
                    <a:pt x="0" y="181233"/>
                  </a:lnTo>
                  <a:lnTo>
                    <a:pt x="203200" y="0"/>
                  </a:lnTo>
                  <a:lnTo>
                    <a:pt x="702684" y="0"/>
                  </a:lnTo>
                  <a:lnTo>
                    <a:pt x="905884" y="18123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114300" y="-9525"/>
              <a:ext cx="677284" cy="3719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PostGIS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2972463" y="7294907"/>
            <a:ext cx="2211332" cy="576344"/>
            <a:chOff x="0" y="0"/>
            <a:chExt cx="1513847" cy="394557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1513847" cy="394557"/>
            </a:xfrm>
            <a:custGeom>
              <a:avLst/>
              <a:gdLst/>
              <a:ahLst/>
              <a:cxnLst/>
              <a:rect l="l" t="t" r="r" b="b"/>
              <a:pathLst>
                <a:path w="1513847" h="394557">
                  <a:moveTo>
                    <a:pt x="1513847" y="197278"/>
                  </a:moveTo>
                  <a:lnTo>
                    <a:pt x="1310647" y="394557"/>
                  </a:lnTo>
                  <a:lnTo>
                    <a:pt x="203200" y="394557"/>
                  </a:lnTo>
                  <a:lnTo>
                    <a:pt x="0" y="197278"/>
                  </a:lnTo>
                  <a:lnTo>
                    <a:pt x="203200" y="0"/>
                  </a:lnTo>
                  <a:lnTo>
                    <a:pt x="1310647" y="0"/>
                  </a:lnTo>
                  <a:lnTo>
                    <a:pt x="1513847" y="197278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114300" y="-9525"/>
              <a:ext cx="1285247" cy="4040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GeoAlchemy2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683052" y="7299599"/>
            <a:ext cx="2224324" cy="566961"/>
            <a:chOff x="0" y="0"/>
            <a:chExt cx="1422038" cy="362465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1422038" cy="362465"/>
            </a:xfrm>
            <a:custGeom>
              <a:avLst/>
              <a:gdLst/>
              <a:ahLst/>
              <a:cxnLst/>
              <a:rect l="l" t="t" r="r" b="b"/>
              <a:pathLst>
                <a:path w="1422038" h="362465">
                  <a:moveTo>
                    <a:pt x="1422038" y="181233"/>
                  </a:moveTo>
                  <a:lnTo>
                    <a:pt x="1218838" y="362465"/>
                  </a:lnTo>
                  <a:lnTo>
                    <a:pt x="203200" y="362465"/>
                  </a:lnTo>
                  <a:lnTo>
                    <a:pt x="0" y="181233"/>
                  </a:lnTo>
                  <a:lnTo>
                    <a:pt x="203200" y="0"/>
                  </a:lnTo>
                  <a:lnTo>
                    <a:pt x="1218838" y="0"/>
                  </a:lnTo>
                  <a:lnTo>
                    <a:pt x="1422038" y="18123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114300" y="-9525"/>
              <a:ext cx="1193438" cy="3719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Scikit-Learn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3685487" y="6504180"/>
            <a:ext cx="1925146" cy="566961"/>
            <a:chOff x="0" y="0"/>
            <a:chExt cx="1230769" cy="362465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1230769" cy="362465"/>
            </a:xfrm>
            <a:custGeom>
              <a:avLst/>
              <a:gdLst/>
              <a:ahLst/>
              <a:cxnLst/>
              <a:rect l="l" t="t" r="r" b="b"/>
              <a:pathLst>
                <a:path w="1230769" h="362465">
                  <a:moveTo>
                    <a:pt x="1230769" y="181233"/>
                  </a:moveTo>
                  <a:lnTo>
                    <a:pt x="1027569" y="362465"/>
                  </a:lnTo>
                  <a:lnTo>
                    <a:pt x="203200" y="362465"/>
                  </a:lnTo>
                  <a:lnTo>
                    <a:pt x="0" y="181233"/>
                  </a:lnTo>
                  <a:lnTo>
                    <a:pt x="203200" y="0"/>
                  </a:lnTo>
                  <a:lnTo>
                    <a:pt x="1027569" y="0"/>
                  </a:lnTo>
                  <a:lnTo>
                    <a:pt x="1230769" y="18123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114300" y="-9525"/>
              <a:ext cx="1002169" cy="3719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XGBoost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5191733" y="2086867"/>
            <a:ext cx="4800877" cy="2301566"/>
            <a:chOff x="0" y="0"/>
            <a:chExt cx="1211922" cy="581002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1211922" cy="581002"/>
            </a:xfrm>
            <a:custGeom>
              <a:avLst/>
              <a:gdLst/>
              <a:ahLst/>
              <a:cxnLst/>
              <a:rect l="l" t="t" r="r" b="b"/>
              <a:pathLst>
                <a:path w="1211922" h="581002">
                  <a:moveTo>
                    <a:pt x="1211922" y="290501"/>
                  </a:moveTo>
                  <a:lnTo>
                    <a:pt x="1008722" y="581002"/>
                  </a:lnTo>
                  <a:lnTo>
                    <a:pt x="203200" y="581002"/>
                  </a:lnTo>
                  <a:lnTo>
                    <a:pt x="0" y="290501"/>
                  </a:lnTo>
                  <a:lnTo>
                    <a:pt x="203200" y="0"/>
                  </a:lnTo>
                  <a:lnTo>
                    <a:pt x="1008722" y="0"/>
                  </a:lnTo>
                  <a:lnTo>
                    <a:pt x="1211922" y="290501"/>
                  </a:lnTo>
                  <a:close/>
                </a:path>
              </a:pathLst>
            </a:custGeom>
            <a:solidFill>
              <a:srgbClr val="C8D1D9"/>
            </a:solidFill>
            <a:ln cap="sq">
              <a:noFill/>
              <a:prstDash val="solid"/>
              <a:miter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114300" y="-19050"/>
              <a:ext cx="983322" cy="6000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9" name="TextBox 89"/>
          <p:cNvSpPr txBox="1"/>
          <p:nvPr/>
        </p:nvSpPr>
        <p:spPr>
          <a:xfrm>
            <a:off x="6220433" y="2215058"/>
            <a:ext cx="5827452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Mobile Delivery</a:t>
            </a:r>
          </a:p>
        </p:txBody>
      </p:sp>
      <p:grpSp>
        <p:nvGrpSpPr>
          <p:cNvPr id="90" name="Group 90"/>
          <p:cNvGrpSpPr/>
          <p:nvPr/>
        </p:nvGrpSpPr>
        <p:grpSpPr>
          <a:xfrm>
            <a:off x="5684217" y="2791880"/>
            <a:ext cx="3899452" cy="566961"/>
            <a:chOff x="0" y="0"/>
            <a:chExt cx="2492967" cy="362465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2492967" cy="362465"/>
            </a:xfrm>
            <a:custGeom>
              <a:avLst/>
              <a:gdLst/>
              <a:ahLst/>
              <a:cxnLst/>
              <a:rect l="l" t="t" r="r" b="b"/>
              <a:pathLst>
                <a:path w="2492967" h="362465">
                  <a:moveTo>
                    <a:pt x="2492967" y="181233"/>
                  </a:moveTo>
                  <a:lnTo>
                    <a:pt x="2289767" y="362465"/>
                  </a:lnTo>
                  <a:lnTo>
                    <a:pt x="203200" y="362465"/>
                  </a:lnTo>
                  <a:lnTo>
                    <a:pt x="0" y="181233"/>
                  </a:lnTo>
                  <a:lnTo>
                    <a:pt x="203200" y="0"/>
                  </a:lnTo>
                  <a:lnTo>
                    <a:pt x="2289767" y="0"/>
                  </a:lnTo>
                  <a:lnTo>
                    <a:pt x="2492967" y="18123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114300" y="-9525"/>
              <a:ext cx="2264367" cy="3719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Android Platform Tools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5874785" y="3597076"/>
            <a:ext cx="1759158" cy="566961"/>
            <a:chOff x="0" y="0"/>
            <a:chExt cx="1124651" cy="362465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1124651" cy="362465"/>
            </a:xfrm>
            <a:custGeom>
              <a:avLst/>
              <a:gdLst/>
              <a:ahLst/>
              <a:cxnLst/>
              <a:rect l="l" t="t" r="r" b="b"/>
              <a:pathLst>
                <a:path w="1124651" h="362465">
                  <a:moveTo>
                    <a:pt x="1124651" y="181233"/>
                  </a:moveTo>
                  <a:lnTo>
                    <a:pt x="921451" y="362465"/>
                  </a:lnTo>
                  <a:lnTo>
                    <a:pt x="203200" y="362465"/>
                  </a:lnTo>
                  <a:lnTo>
                    <a:pt x="0" y="181233"/>
                  </a:lnTo>
                  <a:lnTo>
                    <a:pt x="203200" y="0"/>
                  </a:lnTo>
                  <a:lnTo>
                    <a:pt x="921451" y="0"/>
                  </a:lnTo>
                  <a:lnTo>
                    <a:pt x="1124651" y="18123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114300" y="-9525"/>
              <a:ext cx="896051" cy="3719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Capacitor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7769807" y="3597076"/>
            <a:ext cx="1374193" cy="566961"/>
            <a:chOff x="0" y="0"/>
            <a:chExt cx="878538" cy="362465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878538" cy="362465"/>
            </a:xfrm>
            <a:custGeom>
              <a:avLst/>
              <a:gdLst/>
              <a:ahLst/>
              <a:cxnLst/>
              <a:rect l="l" t="t" r="r" b="b"/>
              <a:pathLst>
                <a:path w="878538" h="362465">
                  <a:moveTo>
                    <a:pt x="878538" y="181233"/>
                  </a:moveTo>
                  <a:lnTo>
                    <a:pt x="675338" y="362465"/>
                  </a:lnTo>
                  <a:lnTo>
                    <a:pt x="203200" y="362465"/>
                  </a:lnTo>
                  <a:lnTo>
                    <a:pt x="0" y="181233"/>
                  </a:lnTo>
                  <a:lnTo>
                    <a:pt x="203200" y="0"/>
                  </a:lnTo>
                  <a:lnTo>
                    <a:pt x="675338" y="0"/>
                  </a:lnTo>
                  <a:lnTo>
                    <a:pt x="878538" y="18123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114300" y="-9525"/>
              <a:ext cx="649938" cy="3719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Java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5191733" y="4502733"/>
            <a:ext cx="4800877" cy="2301566"/>
            <a:chOff x="0" y="0"/>
            <a:chExt cx="1211922" cy="581002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1211922" cy="581002"/>
            </a:xfrm>
            <a:custGeom>
              <a:avLst/>
              <a:gdLst/>
              <a:ahLst/>
              <a:cxnLst/>
              <a:rect l="l" t="t" r="r" b="b"/>
              <a:pathLst>
                <a:path w="1211922" h="581002">
                  <a:moveTo>
                    <a:pt x="1211922" y="290501"/>
                  </a:moveTo>
                  <a:lnTo>
                    <a:pt x="1008722" y="581002"/>
                  </a:lnTo>
                  <a:lnTo>
                    <a:pt x="203200" y="581002"/>
                  </a:lnTo>
                  <a:lnTo>
                    <a:pt x="0" y="290501"/>
                  </a:lnTo>
                  <a:lnTo>
                    <a:pt x="203200" y="0"/>
                  </a:lnTo>
                  <a:lnTo>
                    <a:pt x="1008722" y="0"/>
                  </a:lnTo>
                  <a:lnTo>
                    <a:pt x="1211922" y="290501"/>
                  </a:lnTo>
                  <a:close/>
                </a:path>
              </a:pathLst>
            </a:custGeom>
            <a:solidFill>
              <a:srgbClr val="FFC2E8"/>
            </a:solidFill>
            <a:ln cap="sq">
              <a:noFill/>
              <a:prstDash val="solid"/>
              <a:miter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114300" y="-19050"/>
              <a:ext cx="983322" cy="6000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2" name="TextBox 102"/>
          <p:cNvSpPr txBox="1"/>
          <p:nvPr/>
        </p:nvSpPr>
        <p:spPr>
          <a:xfrm>
            <a:off x="6220433" y="4621399"/>
            <a:ext cx="5827452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Other Services</a:t>
            </a:r>
          </a:p>
        </p:txBody>
      </p:sp>
      <p:grpSp>
        <p:nvGrpSpPr>
          <p:cNvPr id="103" name="Group 103"/>
          <p:cNvGrpSpPr/>
          <p:nvPr/>
        </p:nvGrpSpPr>
        <p:grpSpPr>
          <a:xfrm>
            <a:off x="5864944" y="5917581"/>
            <a:ext cx="3269215" cy="566961"/>
            <a:chOff x="0" y="0"/>
            <a:chExt cx="2090049" cy="362465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2090049" cy="362465"/>
            </a:xfrm>
            <a:custGeom>
              <a:avLst/>
              <a:gdLst/>
              <a:ahLst/>
              <a:cxnLst/>
              <a:rect l="l" t="t" r="r" b="b"/>
              <a:pathLst>
                <a:path w="2090049" h="362465">
                  <a:moveTo>
                    <a:pt x="2090049" y="181233"/>
                  </a:moveTo>
                  <a:lnTo>
                    <a:pt x="1886849" y="362465"/>
                  </a:lnTo>
                  <a:lnTo>
                    <a:pt x="203200" y="362465"/>
                  </a:lnTo>
                  <a:lnTo>
                    <a:pt x="0" y="181233"/>
                  </a:lnTo>
                  <a:lnTo>
                    <a:pt x="203200" y="0"/>
                  </a:lnTo>
                  <a:lnTo>
                    <a:pt x="1886849" y="0"/>
                  </a:lnTo>
                  <a:lnTo>
                    <a:pt x="2090049" y="18123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114300" y="-9525"/>
              <a:ext cx="1861449" cy="3719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Mappls MapMyIndia API</a:t>
              </a:r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5191733" y="6918599"/>
            <a:ext cx="4800877" cy="2339701"/>
            <a:chOff x="0" y="0"/>
            <a:chExt cx="1211922" cy="590628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1211922" cy="590628"/>
            </a:xfrm>
            <a:custGeom>
              <a:avLst/>
              <a:gdLst/>
              <a:ahLst/>
              <a:cxnLst/>
              <a:rect l="l" t="t" r="r" b="b"/>
              <a:pathLst>
                <a:path w="1211922" h="590628">
                  <a:moveTo>
                    <a:pt x="1211922" y="295314"/>
                  </a:moveTo>
                  <a:lnTo>
                    <a:pt x="1008722" y="590628"/>
                  </a:lnTo>
                  <a:lnTo>
                    <a:pt x="203200" y="590628"/>
                  </a:lnTo>
                  <a:lnTo>
                    <a:pt x="0" y="295314"/>
                  </a:lnTo>
                  <a:lnTo>
                    <a:pt x="203200" y="0"/>
                  </a:lnTo>
                  <a:lnTo>
                    <a:pt x="1008722" y="0"/>
                  </a:lnTo>
                  <a:lnTo>
                    <a:pt x="1211922" y="295314"/>
                  </a:lnTo>
                  <a:close/>
                </a:path>
              </a:pathLst>
            </a:custGeom>
            <a:solidFill>
              <a:srgbClr val="FFEB99"/>
            </a:solidFill>
            <a:ln cap="sq">
              <a:noFill/>
              <a:prstDash val="solid"/>
              <a:miter/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114300" y="-19050"/>
              <a:ext cx="983322" cy="6096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9" name="TextBox 109"/>
          <p:cNvSpPr txBox="1"/>
          <p:nvPr/>
        </p:nvSpPr>
        <p:spPr>
          <a:xfrm>
            <a:off x="6220433" y="7037265"/>
            <a:ext cx="5827452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Our mobile app:</a:t>
            </a:r>
          </a:p>
        </p:txBody>
      </p:sp>
      <p:grpSp>
        <p:nvGrpSpPr>
          <p:cNvPr id="110" name="Group 110"/>
          <p:cNvGrpSpPr/>
          <p:nvPr/>
        </p:nvGrpSpPr>
        <p:grpSpPr>
          <a:xfrm>
            <a:off x="5610632" y="7557330"/>
            <a:ext cx="3973037" cy="1521053"/>
            <a:chOff x="0" y="0"/>
            <a:chExt cx="1502141" cy="575086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1502141" cy="575086"/>
            </a:xfrm>
            <a:custGeom>
              <a:avLst/>
              <a:gdLst/>
              <a:ahLst/>
              <a:cxnLst/>
              <a:rect l="l" t="t" r="r" b="b"/>
              <a:pathLst>
                <a:path w="1502141" h="575086">
                  <a:moveTo>
                    <a:pt x="1502141" y="287543"/>
                  </a:moveTo>
                  <a:lnTo>
                    <a:pt x="1298941" y="575086"/>
                  </a:lnTo>
                  <a:lnTo>
                    <a:pt x="203200" y="575086"/>
                  </a:lnTo>
                  <a:lnTo>
                    <a:pt x="0" y="287543"/>
                  </a:lnTo>
                  <a:lnTo>
                    <a:pt x="203200" y="0"/>
                  </a:lnTo>
                  <a:lnTo>
                    <a:pt x="1298941" y="0"/>
                  </a:lnTo>
                  <a:lnTo>
                    <a:pt x="1502141" y="28754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114300" y="-9525"/>
              <a:ext cx="1273541" cy="5846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u="sng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hlinkClick r:id="rId9" tooltip="https://github.com/Adyant-Tiwari19/Farm-Direct/blob/main/kisansetu.apk"/>
                </a:rPr>
                <a:t>https://github.com/Adyant-Tiwari19/Farm-Direct/blob/main/kisansetu.apk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5610632" y="5143500"/>
            <a:ext cx="1782946" cy="566961"/>
            <a:chOff x="0" y="0"/>
            <a:chExt cx="1139859" cy="362465"/>
          </a:xfrm>
        </p:grpSpPr>
        <p:sp>
          <p:nvSpPr>
            <p:cNvPr id="114" name="Freeform 114"/>
            <p:cNvSpPr/>
            <p:nvPr/>
          </p:nvSpPr>
          <p:spPr>
            <a:xfrm>
              <a:off x="0" y="0"/>
              <a:ext cx="1139859" cy="362465"/>
            </a:xfrm>
            <a:custGeom>
              <a:avLst/>
              <a:gdLst/>
              <a:ahLst/>
              <a:cxnLst/>
              <a:rect l="l" t="t" r="r" b="b"/>
              <a:pathLst>
                <a:path w="1139859" h="362465">
                  <a:moveTo>
                    <a:pt x="1139859" y="181233"/>
                  </a:moveTo>
                  <a:lnTo>
                    <a:pt x="936659" y="362465"/>
                  </a:lnTo>
                  <a:lnTo>
                    <a:pt x="203200" y="362465"/>
                  </a:lnTo>
                  <a:lnTo>
                    <a:pt x="0" y="181233"/>
                  </a:lnTo>
                  <a:lnTo>
                    <a:pt x="203200" y="0"/>
                  </a:lnTo>
                  <a:lnTo>
                    <a:pt x="936659" y="0"/>
                  </a:lnTo>
                  <a:lnTo>
                    <a:pt x="1139859" y="18123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114300" y="-9525"/>
              <a:ext cx="911259" cy="3719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Render</a:t>
              </a:r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7565183" y="5143500"/>
            <a:ext cx="1782946" cy="566961"/>
            <a:chOff x="0" y="0"/>
            <a:chExt cx="1139859" cy="362465"/>
          </a:xfrm>
        </p:grpSpPr>
        <p:sp>
          <p:nvSpPr>
            <p:cNvPr id="117" name="Freeform 117"/>
            <p:cNvSpPr/>
            <p:nvPr/>
          </p:nvSpPr>
          <p:spPr>
            <a:xfrm>
              <a:off x="0" y="0"/>
              <a:ext cx="1139859" cy="362465"/>
            </a:xfrm>
            <a:custGeom>
              <a:avLst/>
              <a:gdLst/>
              <a:ahLst/>
              <a:cxnLst/>
              <a:rect l="l" t="t" r="r" b="b"/>
              <a:pathLst>
                <a:path w="1139859" h="362465">
                  <a:moveTo>
                    <a:pt x="1139859" y="181233"/>
                  </a:moveTo>
                  <a:lnTo>
                    <a:pt x="936659" y="362465"/>
                  </a:lnTo>
                  <a:lnTo>
                    <a:pt x="203200" y="362465"/>
                  </a:lnTo>
                  <a:lnTo>
                    <a:pt x="0" y="181233"/>
                  </a:lnTo>
                  <a:lnTo>
                    <a:pt x="203200" y="0"/>
                  </a:lnTo>
                  <a:lnTo>
                    <a:pt x="936659" y="0"/>
                  </a:lnTo>
                  <a:lnTo>
                    <a:pt x="1139859" y="18123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114300" y="-9525"/>
              <a:ext cx="911259" cy="3719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Neon.tech</a:t>
              </a:r>
            </a:p>
          </p:txBody>
        </p:sp>
      </p:grpSp>
      <p:sp>
        <p:nvSpPr>
          <p:cNvPr id="119" name="Oval 118" descr="Your startup LOGO">
            <a:extLst>
              <a:ext uri="{FF2B5EF4-FFF2-40B4-BE49-F238E27FC236}">
                <a16:creationId xmlns:a16="http://schemas.microsoft.com/office/drawing/2014/main" id="{CC5ED158-CBE5-F0DD-B1F4-ED2D7DB6B02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76767" y="143332"/>
            <a:ext cx="3251627" cy="53554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Smooth Operators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628970" y="-169895"/>
            <a:ext cx="13163318" cy="1714500"/>
            <a:chOff x="0" y="0"/>
            <a:chExt cx="17551091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551091" cy="2286000"/>
            </a:xfrm>
            <a:custGeom>
              <a:avLst/>
              <a:gdLst/>
              <a:ahLst/>
              <a:cxnLst/>
              <a:rect l="l" t="t" r="r" b="b"/>
              <a:pathLst>
                <a:path w="17551091" h="2286000">
                  <a:moveTo>
                    <a:pt x="0" y="0"/>
                  </a:moveTo>
                  <a:lnTo>
                    <a:pt x="17551091" y="0"/>
                  </a:lnTo>
                  <a:lnTo>
                    <a:pt x="17551091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r="-25038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7551091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762045" y="85649"/>
            <a:ext cx="3313681" cy="1684306"/>
            <a:chOff x="0" y="0"/>
            <a:chExt cx="4418241" cy="2245741"/>
          </a:xfrm>
        </p:grpSpPr>
        <p:sp>
          <p:nvSpPr>
            <p:cNvPr id="14" name="Freeform 14" descr="https://www.sih.gov.in/img1/SIH-Logo.pn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4762045" y="28727"/>
            <a:ext cx="3331588" cy="1684306"/>
            <a:chOff x="0" y="0"/>
            <a:chExt cx="4442117" cy="224574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442079" cy="2245741"/>
            </a:xfrm>
            <a:custGeom>
              <a:avLst/>
              <a:gdLst/>
              <a:ahLst/>
              <a:cxnLst/>
              <a:rect l="l" t="t" r="r" b="b"/>
              <a:pathLst>
                <a:path w="4442079" h="2245741">
                  <a:moveTo>
                    <a:pt x="0" y="0"/>
                  </a:moveTo>
                  <a:lnTo>
                    <a:pt x="4442079" y="0"/>
                  </a:lnTo>
                  <a:lnTo>
                    <a:pt x="4442079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591870" y="6302456"/>
            <a:ext cx="7277100" cy="2495550"/>
            <a:chOff x="0" y="0"/>
            <a:chExt cx="9702800" cy="3327400"/>
          </a:xfrm>
        </p:grpSpPr>
        <p:grpSp>
          <p:nvGrpSpPr>
            <p:cNvPr id="18" name="Group 18"/>
            <p:cNvGrpSpPr/>
            <p:nvPr/>
          </p:nvGrpSpPr>
          <p:grpSpPr>
            <a:xfrm>
              <a:off x="405549" y="212395"/>
              <a:ext cx="3554692" cy="1665465"/>
              <a:chOff x="0" y="0"/>
              <a:chExt cx="3554692" cy="1665465"/>
            </a:xfrm>
          </p:grpSpPr>
          <p:sp>
            <p:nvSpPr>
              <p:cNvPr id="19" name="Freeform 19" descr="Your startup LOGO"/>
              <p:cNvSpPr/>
              <p:nvPr/>
            </p:nvSpPr>
            <p:spPr>
              <a:xfrm>
                <a:off x="0" y="0"/>
                <a:ext cx="3554730" cy="1665478"/>
              </a:xfrm>
              <a:custGeom>
                <a:avLst/>
                <a:gdLst/>
                <a:ahLst/>
                <a:cxnLst/>
                <a:rect l="l" t="t" r="r" b="b"/>
                <a:pathLst>
                  <a:path w="3554730" h="1665478">
                    <a:moveTo>
                      <a:pt x="0" y="832739"/>
                    </a:moveTo>
                    <a:cubicBezTo>
                      <a:pt x="0" y="372872"/>
                      <a:pt x="795782" y="0"/>
                      <a:pt x="1777365" y="0"/>
                    </a:cubicBezTo>
                    <a:cubicBezTo>
                      <a:pt x="2758948" y="0"/>
                      <a:pt x="3554730" y="372872"/>
                      <a:pt x="3554730" y="832739"/>
                    </a:cubicBezTo>
                    <a:cubicBezTo>
                      <a:pt x="3554730" y="1292606"/>
                      <a:pt x="2758948" y="1665478"/>
                      <a:pt x="1777365" y="1665478"/>
                    </a:cubicBezTo>
                    <a:cubicBezTo>
                      <a:pt x="795782" y="1665478"/>
                      <a:pt x="0" y="1292606"/>
                      <a:pt x="0" y="832739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8064A2"/>
                </a:solidFill>
                <a:prstDash val="solid"/>
                <a:miter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57150"/>
                <a:ext cx="3554692" cy="172261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40"/>
                  </a:lnSpc>
                </a:pPr>
                <a:r>
                  <a:rPr lang="en-US" sz="2700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Smooth Operators</a:t>
                </a:r>
              </a:p>
            </p:txBody>
          </p:sp>
        </p:grpSp>
        <p:sp>
          <p:nvSpPr>
            <p:cNvPr id="21" name="Freeform 21"/>
            <p:cNvSpPr/>
            <p:nvPr/>
          </p:nvSpPr>
          <p:spPr>
            <a:xfrm>
              <a:off x="0" y="0"/>
              <a:ext cx="9702800" cy="1117600"/>
            </a:xfrm>
            <a:custGeom>
              <a:avLst/>
              <a:gdLst/>
              <a:ahLst/>
              <a:cxnLst/>
              <a:rect l="l" t="t" r="r" b="b"/>
              <a:pathLst>
                <a:path w="9702800" h="1117600">
                  <a:moveTo>
                    <a:pt x="0" y="0"/>
                  </a:moveTo>
                  <a:lnTo>
                    <a:pt x="9702800" y="0"/>
                  </a:lnTo>
                  <a:lnTo>
                    <a:pt x="9702800" y="1117600"/>
                  </a:lnTo>
                  <a:lnTo>
                    <a:pt x="0" y="1117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0" y="825500"/>
              <a:ext cx="9702800" cy="2501900"/>
            </a:xfrm>
            <a:custGeom>
              <a:avLst/>
              <a:gdLst/>
              <a:ahLst/>
              <a:cxnLst/>
              <a:rect l="l" t="t" r="r" b="b"/>
              <a:pathLst>
                <a:path w="9702800" h="2501900">
                  <a:moveTo>
                    <a:pt x="0" y="0"/>
                  </a:moveTo>
                  <a:lnTo>
                    <a:pt x="9702800" y="0"/>
                  </a:lnTo>
                  <a:lnTo>
                    <a:pt x="9702800" y="2501900"/>
                  </a:lnTo>
                  <a:lnTo>
                    <a:pt x="0" y="2501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23" name="Freeform 23"/>
            <p:cNvSpPr/>
            <p:nvPr/>
          </p:nvSpPr>
          <p:spPr>
            <a:xfrm>
              <a:off x="685800" y="1104900"/>
              <a:ext cx="1397000" cy="1676400"/>
            </a:xfrm>
            <a:custGeom>
              <a:avLst/>
              <a:gdLst/>
              <a:ahLst/>
              <a:cxnLst/>
              <a:rect l="l" t="t" r="r" b="b"/>
              <a:pathLst>
                <a:path w="1397000" h="1676400">
                  <a:moveTo>
                    <a:pt x="0" y="0"/>
                  </a:moveTo>
                  <a:lnTo>
                    <a:pt x="1397000" y="0"/>
                  </a:lnTo>
                  <a:lnTo>
                    <a:pt x="1397000" y="1676400"/>
                  </a:lnTo>
                  <a:lnTo>
                    <a:pt x="0" y="167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3693160" y="224324"/>
              <a:ext cx="2630156" cy="5356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21"/>
                </a:lnSpc>
              </a:pPr>
              <a:r>
                <a:rPr lang="en-US" sz="2372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FEASIBILITY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463800" y="1343898"/>
              <a:ext cx="4529132" cy="5221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22"/>
                </a:lnSpc>
              </a:pPr>
              <a:r>
                <a:rPr lang="en-US" sz="2301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idea is feasible.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463800" y="1967319"/>
              <a:ext cx="6207760" cy="8342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7"/>
                </a:lnSpc>
              </a:pPr>
              <a:r>
                <a:rPr lang="en-US" sz="180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The prototype is scalable, with server capacity expandable as users increase.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11024945" y="1769955"/>
            <a:ext cx="458398" cy="284950"/>
          </a:xfrm>
          <a:custGeom>
            <a:avLst/>
            <a:gdLst/>
            <a:ahLst/>
            <a:cxnLst/>
            <a:rect l="l" t="t" r="r" b="b"/>
            <a:pathLst>
              <a:path w="458398" h="284950">
                <a:moveTo>
                  <a:pt x="0" y="0"/>
                </a:moveTo>
                <a:lnTo>
                  <a:pt x="458399" y="0"/>
                </a:lnTo>
                <a:lnTo>
                  <a:pt x="458399" y="284950"/>
                </a:lnTo>
                <a:lnTo>
                  <a:pt x="0" y="2849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4630186" y="1769955"/>
            <a:ext cx="458398" cy="284950"/>
          </a:xfrm>
          <a:custGeom>
            <a:avLst/>
            <a:gdLst/>
            <a:ahLst/>
            <a:cxnLst/>
            <a:rect l="l" t="t" r="r" b="b"/>
            <a:pathLst>
              <a:path w="458398" h="284950">
                <a:moveTo>
                  <a:pt x="0" y="0"/>
                </a:moveTo>
                <a:lnTo>
                  <a:pt x="458399" y="0"/>
                </a:lnTo>
                <a:lnTo>
                  <a:pt x="458399" y="284950"/>
                </a:lnTo>
                <a:lnTo>
                  <a:pt x="0" y="284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8324112" y="2302688"/>
            <a:ext cx="2490218" cy="4051250"/>
          </a:xfrm>
          <a:custGeom>
            <a:avLst/>
            <a:gdLst/>
            <a:ahLst/>
            <a:cxnLst/>
            <a:rect l="l" t="t" r="r" b="b"/>
            <a:pathLst>
              <a:path w="2490218" h="4051250">
                <a:moveTo>
                  <a:pt x="0" y="0"/>
                </a:moveTo>
                <a:lnTo>
                  <a:pt x="2490218" y="0"/>
                </a:lnTo>
                <a:lnTo>
                  <a:pt x="2490218" y="4051250"/>
                </a:lnTo>
                <a:lnTo>
                  <a:pt x="0" y="40512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8324112" y="2302688"/>
            <a:ext cx="2490218" cy="830073"/>
          </a:xfrm>
          <a:custGeom>
            <a:avLst/>
            <a:gdLst/>
            <a:ahLst/>
            <a:cxnLst/>
            <a:rect l="l" t="t" r="r" b="b"/>
            <a:pathLst>
              <a:path w="2490218" h="830073">
                <a:moveTo>
                  <a:pt x="0" y="0"/>
                </a:moveTo>
                <a:lnTo>
                  <a:pt x="2490218" y="0"/>
                </a:lnTo>
                <a:lnTo>
                  <a:pt x="2490218" y="830072"/>
                </a:lnTo>
                <a:lnTo>
                  <a:pt x="0" y="83007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8770121" y="3120371"/>
            <a:ext cx="1585811" cy="1895539"/>
          </a:xfrm>
          <a:custGeom>
            <a:avLst/>
            <a:gdLst/>
            <a:ahLst/>
            <a:cxnLst/>
            <a:rect l="l" t="t" r="r" b="b"/>
            <a:pathLst>
              <a:path w="1585811" h="1895539">
                <a:moveTo>
                  <a:pt x="0" y="0"/>
                </a:moveTo>
                <a:lnTo>
                  <a:pt x="1585810" y="0"/>
                </a:lnTo>
                <a:lnTo>
                  <a:pt x="1585810" y="1895539"/>
                </a:lnTo>
                <a:lnTo>
                  <a:pt x="0" y="189553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0578936" y="3653105"/>
            <a:ext cx="681403" cy="817684"/>
          </a:xfrm>
          <a:custGeom>
            <a:avLst/>
            <a:gdLst/>
            <a:ahLst/>
            <a:cxnLst/>
            <a:rect l="l" t="t" r="r" b="b"/>
            <a:pathLst>
              <a:path w="681403" h="817684">
                <a:moveTo>
                  <a:pt x="0" y="0"/>
                </a:moveTo>
                <a:lnTo>
                  <a:pt x="681403" y="0"/>
                </a:lnTo>
                <a:lnTo>
                  <a:pt x="681403" y="817683"/>
                </a:lnTo>
                <a:lnTo>
                  <a:pt x="0" y="81768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1247950" y="2302688"/>
            <a:ext cx="3617630" cy="4051250"/>
          </a:xfrm>
          <a:custGeom>
            <a:avLst/>
            <a:gdLst/>
            <a:ahLst/>
            <a:cxnLst/>
            <a:rect l="l" t="t" r="r" b="b"/>
            <a:pathLst>
              <a:path w="3617630" h="4051250">
                <a:moveTo>
                  <a:pt x="0" y="0"/>
                </a:moveTo>
                <a:lnTo>
                  <a:pt x="3617630" y="0"/>
                </a:lnTo>
                <a:lnTo>
                  <a:pt x="3617630" y="4051250"/>
                </a:lnTo>
                <a:lnTo>
                  <a:pt x="0" y="40512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11247950" y="2302688"/>
            <a:ext cx="3617630" cy="830073"/>
          </a:xfrm>
          <a:custGeom>
            <a:avLst/>
            <a:gdLst/>
            <a:ahLst/>
            <a:cxnLst/>
            <a:rect l="l" t="t" r="r" b="b"/>
            <a:pathLst>
              <a:path w="3617630" h="830073">
                <a:moveTo>
                  <a:pt x="0" y="0"/>
                </a:moveTo>
                <a:lnTo>
                  <a:pt x="3617630" y="0"/>
                </a:lnTo>
                <a:lnTo>
                  <a:pt x="3617630" y="830072"/>
                </a:lnTo>
                <a:lnTo>
                  <a:pt x="0" y="83007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1817850" y="3120371"/>
            <a:ext cx="2254824" cy="1622978"/>
          </a:xfrm>
          <a:custGeom>
            <a:avLst/>
            <a:gdLst/>
            <a:ahLst/>
            <a:cxnLst/>
            <a:rect l="l" t="t" r="r" b="b"/>
            <a:pathLst>
              <a:path w="2254824" h="1622978">
                <a:moveTo>
                  <a:pt x="0" y="0"/>
                </a:moveTo>
                <a:lnTo>
                  <a:pt x="2254825" y="0"/>
                </a:lnTo>
                <a:lnTo>
                  <a:pt x="2254825" y="1622978"/>
                </a:lnTo>
                <a:lnTo>
                  <a:pt x="0" y="162297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11470954" y="5003521"/>
            <a:ext cx="916797" cy="545122"/>
          </a:xfrm>
          <a:custGeom>
            <a:avLst/>
            <a:gdLst/>
            <a:ahLst/>
            <a:cxnLst/>
            <a:rect l="l" t="t" r="r" b="b"/>
            <a:pathLst>
              <a:path w="916797" h="545122">
                <a:moveTo>
                  <a:pt x="0" y="0"/>
                </a:moveTo>
                <a:lnTo>
                  <a:pt x="916797" y="0"/>
                </a:lnTo>
                <a:lnTo>
                  <a:pt x="916797" y="545123"/>
                </a:lnTo>
                <a:lnTo>
                  <a:pt x="0" y="54512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12598367" y="5003521"/>
            <a:ext cx="693792" cy="545122"/>
          </a:xfrm>
          <a:custGeom>
            <a:avLst/>
            <a:gdLst/>
            <a:ahLst/>
            <a:cxnLst/>
            <a:rect l="l" t="t" r="r" b="b"/>
            <a:pathLst>
              <a:path w="693792" h="545122">
                <a:moveTo>
                  <a:pt x="0" y="0"/>
                </a:moveTo>
                <a:lnTo>
                  <a:pt x="693792" y="0"/>
                </a:lnTo>
                <a:lnTo>
                  <a:pt x="693792" y="545123"/>
                </a:lnTo>
                <a:lnTo>
                  <a:pt x="0" y="545123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13725779" y="5003521"/>
            <a:ext cx="693792" cy="545122"/>
          </a:xfrm>
          <a:custGeom>
            <a:avLst/>
            <a:gdLst/>
            <a:ahLst/>
            <a:cxnLst/>
            <a:rect l="l" t="t" r="r" b="b"/>
            <a:pathLst>
              <a:path w="693792" h="545122">
                <a:moveTo>
                  <a:pt x="0" y="0"/>
                </a:moveTo>
                <a:lnTo>
                  <a:pt x="693792" y="0"/>
                </a:lnTo>
                <a:lnTo>
                  <a:pt x="693792" y="545123"/>
                </a:lnTo>
                <a:lnTo>
                  <a:pt x="0" y="545123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12821371" y="6081377"/>
            <a:ext cx="470788" cy="817684"/>
          </a:xfrm>
          <a:custGeom>
            <a:avLst/>
            <a:gdLst/>
            <a:ahLst/>
            <a:cxnLst/>
            <a:rect l="l" t="t" r="r" b="b"/>
            <a:pathLst>
              <a:path w="470788" h="817684">
                <a:moveTo>
                  <a:pt x="0" y="0"/>
                </a:moveTo>
                <a:lnTo>
                  <a:pt x="470788" y="0"/>
                </a:lnTo>
                <a:lnTo>
                  <a:pt x="470788" y="817684"/>
                </a:lnTo>
                <a:lnTo>
                  <a:pt x="0" y="817684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12375362" y="6886671"/>
            <a:ext cx="1139801" cy="1362806"/>
          </a:xfrm>
          <a:custGeom>
            <a:avLst/>
            <a:gdLst/>
            <a:ahLst/>
            <a:cxnLst/>
            <a:rect l="l" t="t" r="r" b="b"/>
            <a:pathLst>
              <a:path w="1139801" h="1362806">
                <a:moveTo>
                  <a:pt x="0" y="0"/>
                </a:moveTo>
                <a:lnTo>
                  <a:pt x="1139801" y="0"/>
                </a:lnTo>
                <a:lnTo>
                  <a:pt x="1139801" y="1362806"/>
                </a:lnTo>
                <a:lnTo>
                  <a:pt x="0" y="1362806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12152357" y="7419405"/>
            <a:ext cx="1808815" cy="284950"/>
          </a:xfrm>
          <a:custGeom>
            <a:avLst/>
            <a:gdLst/>
            <a:ahLst/>
            <a:cxnLst/>
            <a:rect l="l" t="t" r="r" b="b"/>
            <a:pathLst>
              <a:path w="1808815" h="284950">
                <a:moveTo>
                  <a:pt x="0" y="0"/>
                </a:moveTo>
                <a:lnTo>
                  <a:pt x="1808815" y="0"/>
                </a:lnTo>
                <a:lnTo>
                  <a:pt x="1808815" y="284950"/>
                </a:lnTo>
                <a:lnTo>
                  <a:pt x="0" y="28495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8324112" y="6614110"/>
            <a:ext cx="4063640" cy="1895539"/>
          </a:xfrm>
          <a:custGeom>
            <a:avLst/>
            <a:gdLst/>
            <a:ahLst/>
            <a:cxnLst/>
            <a:rect l="l" t="t" r="r" b="b"/>
            <a:pathLst>
              <a:path w="4063640" h="1895539">
                <a:moveTo>
                  <a:pt x="0" y="0"/>
                </a:moveTo>
                <a:lnTo>
                  <a:pt x="4063639" y="0"/>
                </a:lnTo>
                <a:lnTo>
                  <a:pt x="4063639" y="1895539"/>
                </a:lnTo>
                <a:lnTo>
                  <a:pt x="0" y="1895539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8770121" y="7159233"/>
            <a:ext cx="916797" cy="1090245"/>
          </a:xfrm>
          <a:custGeom>
            <a:avLst/>
            <a:gdLst/>
            <a:ahLst/>
            <a:cxnLst/>
            <a:rect l="l" t="t" r="r" b="b"/>
            <a:pathLst>
              <a:path w="916797" h="1090245">
                <a:moveTo>
                  <a:pt x="0" y="0"/>
                </a:moveTo>
                <a:lnTo>
                  <a:pt x="916797" y="0"/>
                </a:lnTo>
                <a:lnTo>
                  <a:pt x="916797" y="1090244"/>
                </a:lnTo>
                <a:lnTo>
                  <a:pt x="0" y="1090244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9451524" y="6081377"/>
            <a:ext cx="458398" cy="817684"/>
          </a:xfrm>
          <a:custGeom>
            <a:avLst/>
            <a:gdLst/>
            <a:ahLst/>
            <a:cxnLst/>
            <a:rect l="l" t="t" r="r" b="b"/>
            <a:pathLst>
              <a:path w="458398" h="817684">
                <a:moveTo>
                  <a:pt x="0" y="0"/>
                </a:moveTo>
                <a:lnTo>
                  <a:pt x="458398" y="0"/>
                </a:lnTo>
                <a:lnTo>
                  <a:pt x="458398" y="817684"/>
                </a:lnTo>
                <a:lnTo>
                  <a:pt x="0" y="817684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15299200" y="2302688"/>
            <a:ext cx="2267214" cy="4051250"/>
          </a:xfrm>
          <a:custGeom>
            <a:avLst/>
            <a:gdLst/>
            <a:ahLst/>
            <a:cxnLst/>
            <a:rect l="l" t="t" r="r" b="b"/>
            <a:pathLst>
              <a:path w="2267214" h="4051250">
                <a:moveTo>
                  <a:pt x="0" y="0"/>
                </a:moveTo>
                <a:lnTo>
                  <a:pt x="2267214" y="0"/>
                </a:lnTo>
                <a:lnTo>
                  <a:pt x="2267214" y="4051250"/>
                </a:lnTo>
                <a:lnTo>
                  <a:pt x="0" y="405125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15322780" y="2302688"/>
            <a:ext cx="2267214" cy="830073"/>
          </a:xfrm>
          <a:custGeom>
            <a:avLst/>
            <a:gdLst/>
            <a:ahLst/>
            <a:cxnLst/>
            <a:rect l="l" t="t" r="r" b="b"/>
            <a:pathLst>
              <a:path w="2267214" h="830073">
                <a:moveTo>
                  <a:pt x="0" y="0"/>
                </a:moveTo>
                <a:lnTo>
                  <a:pt x="2267214" y="0"/>
                </a:lnTo>
                <a:lnTo>
                  <a:pt x="2267214" y="830072"/>
                </a:lnTo>
                <a:lnTo>
                  <a:pt x="0" y="830072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>
            <a:off x="15534594" y="3120371"/>
            <a:ext cx="1808815" cy="1895539"/>
          </a:xfrm>
          <a:custGeom>
            <a:avLst/>
            <a:gdLst/>
            <a:ahLst/>
            <a:cxnLst/>
            <a:rect l="l" t="t" r="r" b="b"/>
            <a:pathLst>
              <a:path w="1808815" h="1895539">
                <a:moveTo>
                  <a:pt x="0" y="0"/>
                </a:moveTo>
                <a:lnTo>
                  <a:pt x="1808815" y="0"/>
                </a:lnTo>
                <a:lnTo>
                  <a:pt x="1808815" y="1895539"/>
                </a:lnTo>
                <a:lnTo>
                  <a:pt x="0" y="1895539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>
            <a:off x="14630186" y="3653105"/>
            <a:ext cx="904408" cy="817684"/>
          </a:xfrm>
          <a:custGeom>
            <a:avLst/>
            <a:gdLst/>
            <a:ahLst/>
            <a:cxnLst/>
            <a:rect l="l" t="t" r="r" b="b"/>
            <a:pathLst>
              <a:path w="904408" h="817684">
                <a:moveTo>
                  <a:pt x="0" y="0"/>
                </a:moveTo>
                <a:lnTo>
                  <a:pt x="904408" y="0"/>
                </a:lnTo>
                <a:lnTo>
                  <a:pt x="904408" y="817683"/>
                </a:lnTo>
                <a:lnTo>
                  <a:pt x="0" y="817683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</p:sp>
      <p:sp>
        <p:nvSpPr>
          <p:cNvPr id="49" name="Freeform 49"/>
          <p:cNvSpPr/>
          <p:nvPr/>
        </p:nvSpPr>
        <p:spPr>
          <a:xfrm>
            <a:off x="16203608" y="6081377"/>
            <a:ext cx="458398" cy="817684"/>
          </a:xfrm>
          <a:custGeom>
            <a:avLst/>
            <a:gdLst/>
            <a:ahLst/>
            <a:cxnLst/>
            <a:rect l="l" t="t" r="r" b="b"/>
            <a:pathLst>
              <a:path w="458398" h="817684">
                <a:moveTo>
                  <a:pt x="0" y="0"/>
                </a:moveTo>
                <a:lnTo>
                  <a:pt x="458398" y="0"/>
                </a:lnTo>
                <a:lnTo>
                  <a:pt x="458398" y="817684"/>
                </a:lnTo>
                <a:lnTo>
                  <a:pt x="0" y="817684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</p:sp>
      <p:sp>
        <p:nvSpPr>
          <p:cNvPr id="50" name="Freeform 50"/>
          <p:cNvSpPr/>
          <p:nvPr/>
        </p:nvSpPr>
        <p:spPr>
          <a:xfrm>
            <a:off x="13725779" y="6614110"/>
            <a:ext cx="3840635" cy="1895539"/>
          </a:xfrm>
          <a:custGeom>
            <a:avLst/>
            <a:gdLst/>
            <a:ahLst/>
            <a:cxnLst/>
            <a:rect l="l" t="t" r="r" b="b"/>
            <a:pathLst>
              <a:path w="3840635" h="1895539">
                <a:moveTo>
                  <a:pt x="0" y="0"/>
                </a:moveTo>
                <a:lnTo>
                  <a:pt x="3840635" y="0"/>
                </a:lnTo>
                <a:lnTo>
                  <a:pt x="3840635" y="1895539"/>
                </a:lnTo>
                <a:lnTo>
                  <a:pt x="0" y="1895539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/>
            </a:stretch>
          </a:blipFill>
        </p:spPr>
      </p:sp>
      <p:sp>
        <p:nvSpPr>
          <p:cNvPr id="51" name="Freeform 51"/>
          <p:cNvSpPr/>
          <p:nvPr/>
        </p:nvSpPr>
        <p:spPr>
          <a:xfrm>
            <a:off x="13948783" y="6886671"/>
            <a:ext cx="1139801" cy="1362806"/>
          </a:xfrm>
          <a:custGeom>
            <a:avLst/>
            <a:gdLst/>
            <a:ahLst/>
            <a:cxnLst/>
            <a:rect l="l" t="t" r="r" b="b"/>
            <a:pathLst>
              <a:path w="1139801" h="1362806">
                <a:moveTo>
                  <a:pt x="0" y="0"/>
                </a:moveTo>
                <a:lnTo>
                  <a:pt x="1139802" y="0"/>
                </a:lnTo>
                <a:lnTo>
                  <a:pt x="1139802" y="1362806"/>
                </a:lnTo>
                <a:lnTo>
                  <a:pt x="0" y="1362806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/>
            </a:stretch>
          </a:blipFill>
        </p:spPr>
      </p:sp>
      <p:grpSp>
        <p:nvGrpSpPr>
          <p:cNvPr id="52" name="Group 52"/>
          <p:cNvGrpSpPr/>
          <p:nvPr/>
        </p:nvGrpSpPr>
        <p:grpSpPr>
          <a:xfrm>
            <a:off x="579329" y="1544605"/>
            <a:ext cx="7289641" cy="4023712"/>
            <a:chOff x="0" y="0"/>
            <a:chExt cx="9719522" cy="5364950"/>
          </a:xfrm>
        </p:grpSpPr>
        <p:grpSp>
          <p:nvGrpSpPr>
            <p:cNvPr id="53" name="Group 53"/>
            <p:cNvGrpSpPr/>
            <p:nvPr/>
          </p:nvGrpSpPr>
          <p:grpSpPr>
            <a:xfrm>
              <a:off x="46461" y="419100"/>
              <a:ext cx="9673061" cy="4945850"/>
              <a:chOff x="0" y="0"/>
              <a:chExt cx="1910728" cy="976958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1910728" cy="976958"/>
              </a:xfrm>
              <a:custGeom>
                <a:avLst/>
                <a:gdLst/>
                <a:ahLst/>
                <a:cxnLst/>
                <a:rect l="l" t="t" r="r" b="b"/>
                <a:pathLst>
                  <a:path w="1910728" h="976958">
                    <a:moveTo>
                      <a:pt x="54424" y="0"/>
                    </a:moveTo>
                    <a:lnTo>
                      <a:pt x="1856304" y="0"/>
                    </a:lnTo>
                    <a:cubicBezTo>
                      <a:pt x="1870738" y="0"/>
                      <a:pt x="1884581" y="5734"/>
                      <a:pt x="1894788" y="15941"/>
                    </a:cubicBezTo>
                    <a:cubicBezTo>
                      <a:pt x="1904994" y="26147"/>
                      <a:pt x="1910728" y="39990"/>
                      <a:pt x="1910728" y="54424"/>
                    </a:cubicBezTo>
                    <a:lnTo>
                      <a:pt x="1910728" y="922534"/>
                    </a:lnTo>
                    <a:cubicBezTo>
                      <a:pt x="1910728" y="952591"/>
                      <a:pt x="1886361" y="976958"/>
                      <a:pt x="1856304" y="976958"/>
                    </a:cubicBezTo>
                    <a:lnTo>
                      <a:pt x="54424" y="976958"/>
                    </a:lnTo>
                    <a:cubicBezTo>
                      <a:pt x="24367" y="976958"/>
                      <a:pt x="0" y="952591"/>
                      <a:pt x="0" y="922534"/>
                    </a:cubicBezTo>
                    <a:lnTo>
                      <a:pt x="0" y="54424"/>
                    </a:lnTo>
                    <a:cubicBezTo>
                      <a:pt x="0" y="24367"/>
                      <a:pt x="24367" y="0"/>
                      <a:pt x="5442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0" y="-19050"/>
                <a:ext cx="1910728" cy="99600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56" name="Freeform 56"/>
            <p:cNvSpPr/>
            <p:nvPr/>
          </p:nvSpPr>
          <p:spPr>
            <a:xfrm>
              <a:off x="0" y="38249"/>
              <a:ext cx="2004801" cy="4978400"/>
            </a:xfrm>
            <a:custGeom>
              <a:avLst/>
              <a:gdLst/>
              <a:ahLst/>
              <a:cxnLst/>
              <a:rect l="l" t="t" r="r" b="b"/>
              <a:pathLst>
                <a:path w="2004801" h="4978400">
                  <a:moveTo>
                    <a:pt x="0" y="0"/>
                  </a:moveTo>
                  <a:lnTo>
                    <a:pt x="2004801" y="0"/>
                  </a:lnTo>
                  <a:lnTo>
                    <a:pt x="2004801" y="4978400"/>
                  </a:lnTo>
                  <a:lnTo>
                    <a:pt x="0" y="497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>
                <a:fillRect r="-383978"/>
              </a:stretch>
            </a:blipFill>
          </p:spPr>
        </p:sp>
        <p:sp>
          <p:nvSpPr>
            <p:cNvPr id="57" name="Freeform 57"/>
            <p:cNvSpPr/>
            <p:nvPr/>
          </p:nvSpPr>
          <p:spPr>
            <a:xfrm>
              <a:off x="16722" y="0"/>
              <a:ext cx="9702800" cy="1117600"/>
            </a:xfrm>
            <a:custGeom>
              <a:avLst/>
              <a:gdLst/>
              <a:ahLst/>
              <a:cxnLst/>
              <a:rect l="l" t="t" r="r" b="b"/>
              <a:pathLst>
                <a:path w="9702800" h="1117600">
                  <a:moveTo>
                    <a:pt x="0" y="0"/>
                  </a:moveTo>
                  <a:lnTo>
                    <a:pt x="9702800" y="0"/>
                  </a:lnTo>
                  <a:lnTo>
                    <a:pt x="9702800" y="1117600"/>
                  </a:lnTo>
                  <a:lnTo>
                    <a:pt x="0" y="1117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/>
              <a:stretch>
                <a:fillRect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3531342" y="226297"/>
              <a:ext cx="2808696" cy="49988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222"/>
                </a:lnSpc>
              </a:pPr>
              <a:r>
                <a:rPr lang="en-US" sz="2301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CHALLENGES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2032741" y="1312560"/>
              <a:ext cx="7550287" cy="78824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358"/>
                </a:lnSpc>
              </a:pPr>
              <a:r>
                <a:rPr lang="en-US" b="1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1) Farmer onboarding:</a:t>
              </a:r>
              <a:r>
                <a:rPr lang="en-US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Need enough registered farmers before the marketplace can function effectively.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032741" y="2408391"/>
              <a:ext cx="7236428" cy="78824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358"/>
                </a:lnSpc>
              </a:pPr>
              <a:r>
                <a:rPr lang="en-US" b="1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2) Customer acquisition:</a:t>
              </a:r>
              <a:r>
                <a:rPr lang="en-US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Need genuine users and order data to create reliable demand data.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2063221" y="3576791"/>
              <a:ext cx="6897303" cy="1198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58"/>
                </a:lnSpc>
              </a:pPr>
              <a:r>
                <a:rPr lang="en-US" b="1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3) Database setup:</a:t>
              </a:r>
              <a:r>
                <a:rPr lang="en-US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Farmer profiles, products, inventory, orders and customer records must be structured as registrations grow.</a:t>
              </a:r>
            </a:p>
          </p:txBody>
        </p:sp>
      </p:grpSp>
      <p:sp>
        <p:nvSpPr>
          <p:cNvPr id="62" name="Freeform 62"/>
          <p:cNvSpPr/>
          <p:nvPr/>
        </p:nvSpPr>
        <p:spPr>
          <a:xfrm>
            <a:off x="2327626" y="181720"/>
            <a:ext cx="1608815" cy="989255"/>
          </a:xfrm>
          <a:custGeom>
            <a:avLst/>
            <a:gdLst/>
            <a:ahLst/>
            <a:cxnLst/>
            <a:rect l="l" t="t" r="r" b="b"/>
            <a:pathLst>
              <a:path w="1608815" h="989255">
                <a:moveTo>
                  <a:pt x="0" y="0"/>
                </a:moveTo>
                <a:lnTo>
                  <a:pt x="1608814" y="0"/>
                </a:lnTo>
                <a:lnTo>
                  <a:pt x="1608814" y="989255"/>
                </a:lnTo>
                <a:lnTo>
                  <a:pt x="0" y="989255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/>
            </a:stretch>
          </a:blipFill>
        </p:spPr>
      </p:sp>
      <p:sp>
        <p:nvSpPr>
          <p:cNvPr id="63" name="TextBox 63"/>
          <p:cNvSpPr txBox="1"/>
          <p:nvPr/>
        </p:nvSpPr>
        <p:spPr>
          <a:xfrm>
            <a:off x="10182483" y="1800655"/>
            <a:ext cx="4410536" cy="41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2"/>
              </a:lnSpc>
            </a:pPr>
            <a:r>
              <a:rPr lang="en-US" sz="2302" b="1">
                <a:solidFill>
                  <a:srgbClr val="18549D"/>
                </a:solidFill>
                <a:latin typeface="Arial Bold"/>
                <a:ea typeface="Arial Bold"/>
                <a:cs typeface="Arial Bold"/>
                <a:sym typeface="Arial Bold"/>
              </a:rPr>
              <a:t>OUR PLATFORM FLOW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9092239" y="2524066"/>
            <a:ext cx="1129890" cy="677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6"/>
              </a:lnSpc>
            </a:pPr>
            <a:r>
              <a:rPr lang="en-US" sz="1933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FARMERS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1523687" y="2548617"/>
            <a:ext cx="3165427" cy="342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6"/>
              </a:lnSpc>
            </a:pPr>
            <a:r>
              <a:rPr lang="en-US" sz="1933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PLATFORM / DATABASE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1611739" y="5635659"/>
            <a:ext cx="642209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</a:t>
            </a:r>
          </a:p>
          <a:p>
            <a:pPr algn="l">
              <a:lnSpc>
                <a:spcPts val="1609"/>
              </a:lnSpc>
            </a:pP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Catalog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2709869" y="5632941"/>
            <a:ext cx="703703" cy="431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67"/>
              </a:lnSpc>
            </a:pPr>
            <a:r>
              <a:rPr lang="en-US" sz="1333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Orders &amp;</a:t>
            </a:r>
          </a:p>
          <a:p>
            <a:pPr algn="l">
              <a:lnSpc>
                <a:spcPts val="1667"/>
              </a:lnSpc>
            </a:pPr>
            <a:r>
              <a:rPr lang="en-US" sz="1333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Inventory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3671267" y="5657427"/>
            <a:ext cx="951486" cy="382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1"/>
              </a:lnSpc>
            </a:pPr>
            <a:r>
              <a:rPr lang="en-US" sz="124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</a:t>
            </a:r>
          </a:p>
          <a:p>
            <a:pPr algn="l">
              <a:lnSpc>
                <a:spcPts val="1551"/>
              </a:lnSpc>
            </a:pPr>
            <a:r>
              <a:rPr lang="en-US" sz="124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Management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9638487" y="7133230"/>
            <a:ext cx="2562302" cy="301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702" b="1">
                <a:solidFill>
                  <a:srgbClr val="18549D"/>
                </a:solidFill>
                <a:latin typeface="Arial Bold"/>
                <a:ea typeface="Arial Bold"/>
                <a:cs typeface="Arial Bold"/>
                <a:sym typeface="Arial Bold"/>
              </a:rPr>
              <a:t>TRUST / VERIFICATION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9746385" y="7585251"/>
            <a:ext cx="2418361" cy="745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6"/>
              </a:lnSpc>
            </a:pPr>
            <a:r>
              <a:rPr lang="en-US" sz="14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Verify farmer identities,</a:t>
            </a:r>
          </a:p>
          <a:p>
            <a:pPr algn="l">
              <a:lnSpc>
                <a:spcPts val="1996"/>
              </a:lnSpc>
            </a:pPr>
            <a:r>
              <a:rPr lang="en-US" sz="14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 quality &amp; authenticity</a:t>
            </a:r>
          </a:p>
          <a:p>
            <a:pPr algn="l">
              <a:lnSpc>
                <a:spcPts val="1996"/>
              </a:lnSpc>
            </a:pPr>
            <a:r>
              <a:rPr lang="en-US" sz="14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build buyer trust.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5646096" y="2524066"/>
            <a:ext cx="1774126" cy="342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6"/>
              </a:lnSpc>
            </a:pPr>
            <a:r>
              <a:rPr lang="en-US" sz="1933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CUSTOMERS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5632241" y="5139414"/>
            <a:ext cx="1909127" cy="8284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Browse Products</a:t>
            </a:r>
          </a:p>
          <a:p>
            <a:pPr algn="l">
              <a:lnSpc>
                <a:spcPts val="2210"/>
              </a:lnSpc>
            </a:pP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Place Orders</a:t>
            </a:r>
          </a:p>
          <a:p>
            <a:pPr algn="l">
              <a:lnSpc>
                <a:spcPts val="2210"/>
              </a:lnSpc>
            </a:pP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Track Deliveries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5157964" y="7078206"/>
            <a:ext cx="2101199" cy="468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7"/>
              </a:lnSpc>
            </a:pPr>
            <a:r>
              <a:rPr lang="en-US" sz="1702" b="1">
                <a:solidFill>
                  <a:srgbClr val="18549D"/>
                </a:solidFill>
                <a:latin typeface="Arial Bold"/>
                <a:ea typeface="Arial Bold"/>
                <a:cs typeface="Arial Bold"/>
                <a:sym typeface="Arial Bold"/>
              </a:rPr>
              <a:t>LOGISTICS / ORDER TRACKING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5157964" y="7659586"/>
            <a:ext cx="2140844" cy="745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6"/>
              </a:lnSpc>
            </a:pPr>
            <a:r>
              <a:rPr lang="en-US" sz="14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Real-time order updates,</a:t>
            </a:r>
          </a:p>
          <a:p>
            <a:pPr algn="l">
              <a:lnSpc>
                <a:spcPts val="1996"/>
              </a:lnSpc>
            </a:pPr>
            <a:r>
              <a:rPr lang="en-US" sz="14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tracking &amp; reliable</a:t>
            </a:r>
          </a:p>
          <a:p>
            <a:pPr algn="l">
              <a:lnSpc>
                <a:spcPts val="1996"/>
              </a:lnSpc>
            </a:pPr>
            <a:r>
              <a:rPr lang="en-US" sz="14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fulfillment.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8826658" y="5102019"/>
            <a:ext cx="1670057" cy="974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52"/>
              </a:lnSpc>
            </a:pP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Register &amp; List</a:t>
            </a:r>
          </a:p>
          <a:p>
            <a:pPr algn="l">
              <a:lnSpc>
                <a:spcPts val="1852"/>
              </a:lnSpc>
            </a:pP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</a:t>
            </a:r>
          </a:p>
          <a:p>
            <a:pPr algn="l">
              <a:lnSpc>
                <a:spcPts val="1852"/>
              </a:lnSpc>
            </a:pP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 Inventory</a:t>
            </a:r>
          </a:p>
          <a:p>
            <a:pPr algn="l">
              <a:lnSpc>
                <a:spcPts val="1852"/>
              </a:lnSpc>
            </a:pP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Track Orders</a:t>
            </a:r>
          </a:p>
        </p:txBody>
      </p:sp>
      <p:sp>
        <p:nvSpPr>
          <p:cNvPr id="76" name="Oval 75" descr="Your startup LOGO">
            <a:extLst>
              <a:ext uri="{FF2B5EF4-FFF2-40B4-BE49-F238E27FC236}">
                <a16:creationId xmlns:a16="http://schemas.microsoft.com/office/drawing/2014/main" id="{D4B25C57-59DF-8FBB-9CA0-7F78287CCF8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751946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Smooth Operators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845011" y="1442867"/>
            <a:ext cx="0" cy="6555671"/>
          </a:xfrm>
          <a:prstGeom prst="line">
            <a:avLst/>
          </a:prstGeom>
          <a:ln w="38100" cap="flat">
            <a:solidFill>
              <a:srgbClr val="2C641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 rot="5400000">
            <a:off x="1622604" y="5366930"/>
            <a:ext cx="2364534" cy="4424249"/>
          </a:xfrm>
          <a:custGeom>
            <a:avLst/>
            <a:gdLst/>
            <a:ahLst/>
            <a:cxnLst/>
            <a:rect l="l" t="t" r="r" b="b"/>
            <a:pathLst>
              <a:path w="2364534" h="4424249">
                <a:moveTo>
                  <a:pt x="0" y="0"/>
                </a:moveTo>
                <a:lnTo>
                  <a:pt x="2364534" y="0"/>
                </a:lnTo>
                <a:lnTo>
                  <a:pt x="2364534" y="4424249"/>
                </a:lnTo>
                <a:lnTo>
                  <a:pt x="0" y="44242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007" t="-5266" r="-10007" b="-12731"/>
            </a:stretch>
          </a:blipFill>
          <a:ln w="38100" cap="rnd">
            <a:solidFill>
              <a:srgbClr val="2C641B"/>
            </a:solidFill>
            <a:prstDash val="solid"/>
            <a:round/>
          </a:ln>
        </p:spPr>
      </p:sp>
      <p:grpSp>
        <p:nvGrpSpPr>
          <p:cNvPr id="4" name="Group 4"/>
          <p:cNvGrpSpPr/>
          <p:nvPr/>
        </p:nvGrpSpPr>
        <p:grpSpPr>
          <a:xfrm>
            <a:off x="0" y="9572625"/>
            <a:ext cx="18288000" cy="754856"/>
            <a:chOff x="0" y="0"/>
            <a:chExt cx="24384000" cy="10064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4227463" y="14097"/>
            <a:ext cx="9429190" cy="1409700"/>
            <a:chOff x="0" y="0"/>
            <a:chExt cx="12572253" cy="1879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572253" cy="1879600"/>
            </a:xfrm>
            <a:custGeom>
              <a:avLst/>
              <a:gdLst/>
              <a:ahLst/>
              <a:cxnLst/>
              <a:rect l="l" t="t" r="r" b="b"/>
              <a:pathLst>
                <a:path w="12572253" h="1879600">
                  <a:moveTo>
                    <a:pt x="0" y="0"/>
                  </a:moveTo>
                  <a:lnTo>
                    <a:pt x="12572253" y="0"/>
                  </a:lnTo>
                  <a:lnTo>
                    <a:pt x="12572253" y="1879600"/>
                  </a:lnTo>
                  <a:lnTo>
                    <a:pt x="0" y="187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6690" r="-74555" b="-188311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2572253" cy="19081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506781" y="2063157"/>
            <a:ext cx="2549848" cy="4119452"/>
          </a:xfrm>
          <a:custGeom>
            <a:avLst/>
            <a:gdLst/>
            <a:ahLst/>
            <a:cxnLst/>
            <a:rect l="l" t="t" r="r" b="b"/>
            <a:pathLst>
              <a:path w="2549848" h="4119452">
                <a:moveTo>
                  <a:pt x="0" y="0"/>
                </a:moveTo>
                <a:lnTo>
                  <a:pt x="2549847" y="0"/>
                </a:lnTo>
                <a:lnTo>
                  <a:pt x="2549847" y="4119452"/>
                </a:lnTo>
                <a:lnTo>
                  <a:pt x="0" y="41194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6427" r="-5603" b="-1688"/>
            </a:stretch>
          </a:blipFill>
          <a:ln w="38100" cap="rnd">
            <a:solidFill>
              <a:srgbClr val="2C641B"/>
            </a:solidFill>
            <a:prstDash val="solid"/>
            <a:round/>
          </a:ln>
        </p:spPr>
      </p:sp>
      <p:sp>
        <p:nvSpPr>
          <p:cNvPr id="13" name="Freeform 13"/>
          <p:cNvSpPr/>
          <p:nvPr/>
        </p:nvSpPr>
        <p:spPr>
          <a:xfrm>
            <a:off x="1027797" y="2258888"/>
            <a:ext cx="1465659" cy="2157354"/>
          </a:xfrm>
          <a:custGeom>
            <a:avLst/>
            <a:gdLst/>
            <a:ahLst/>
            <a:cxnLst/>
            <a:rect l="l" t="t" r="r" b="b"/>
            <a:pathLst>
              <a:path w="1465659" h="2157354">
                <a:moveTo>
                  <a:pt x="0" y="0"/>
                </a:moveTo>
                <a:lnTo>
                  <a:pt x="1465659" y="0"/>
                </a:lnTo>
                <a:lnTo>
                  <a:pt x="1465659" y="2157354"/>
                </a:lnTo>
                <a:lnTo>
                  <a:pt x="0" y="21573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611" b="-1611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5379132" y="6300909"/>
            <a:ext cx="1961054" cy="1697629"/>
          </a:xfrm>
          <a:custGeom>
            <a:avLst/>
            <a:gdLst/>
            <a:ahLst/>
            <a:cxnLst/>
            <a:rect l="l" t="t" r="r" b="b"/>
            <a:pathLst>
              <a:path w="1961054" h="1697629">
                <a:moveTo>
                  <a:pt x="0" y="0"/>
                </a:moveTo>
                <a:lnTo>
                  <a:pt x="1961054" y="0"/>
                </a:lnTo>
                <a:lnTo>
                  <a:pt x="1961054" y="1697629"/>
                </a:lnTo>
                <a:lnTo>
                  <a:pt x="0" y="16976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3409053" y="1742500"/>
            <a:ext cx="3349392" cy="4346885"/>
          </a:xfrm>
          <a:custGeom>
            <a:avLst/>
            <a:gdLst/>
            <a:ahLst/>
            <a:cxnLst/>
            <a:rect l="l" t="t" r="r" b="b"/>
            <a:pathLst>
              <a:path w="3349392" h="4346885">
                <a:moveTo>
                  <a:pt x="0" y="0"/>
                </a:moveTo>
                <a:lnTo>
                  <a:pt x="3349392" y="0"/>
                </a:lnTo>
                <a:lnTo>
                  <a:pt x="3349392" y="4346885"/>
                </a:lnTo>
                <a:lnTo>
                  <a:pt x="0" y="43468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25972" r="-7112" b="-40834"/>
            </a:stretch>
          </a:blipFill>
          <a:ln w="38100" cap="rnd">
            <a:solidFill>
              <a:srgbClr val="2C641B"/>
            </a:solidFill>
            <a:prstDash val="solid"/>
            <a:round/>
          </a:ln>
        </p:spPr>
      </p:sp>
      <p:sp>
        <p:nvSpPr>
          <p:cNvPr id="16" name="Freeform 16"/>
          <p:cNvSpPr/>
          <p:nvPr/>
        </p:nvSpPr>
        <p:spPr>
          <a:xfrm>
            <a:off x="3979800" y="1933928"/>
            <a:ext cx="583409" cy="700090"/>
          </a:xfrm>
          <a:custGeom>
            <a:avLst/>
            <a:gdLst/>
            <a:ahLst/>
            <a:cxnLst/>
            <a:rect l="l" t="t" r="r" b="b"/>
            <a:pathLst>
              <a:path w="583409" h="700090">
                <a:moveTo>
                  <a:pt x="0" y="0"/>
                </a:moveTo>
                <a:lnTo>
                  <a:pt x="583408" y="0"/>
                </a:lnTo>
                <a:lnTo>
                  <a:pt x="583408" y="700090"/>
                </a:lnTo>
                <a:lnTo>
                  <a:pt x="0" y="70009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4042379" y="2063157"/>
            <a:ext cx="1735539" cy="1460508"/>
          </a:xfrm>
          <a:custGeom>
            <a:avLst/>
            <a:gdLst/>
            <a:ahLst/>
            <a:cxnLst/>
            <a:rect l="l" t="t" r="r" b="b"/>
            <a:pathLst>
              <a:path w="1735539" h="1460508">
                <a:moveTo>
                  <a:pt x="0" y="0"/>
                </a:moveTo>
                <a:lnTo>
                  <a:pt x="1735539" y="0"/>
                </a:lnTo>
                <a:lnTo>
                  <a:pt x="1735539" y="1460508"/>
                </a:lnTo>
                <a:lnTo>
                  <a:pt x="0" y="146050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1396954" y="3049266"/>
            <a:ext cx="3365091" cy="5478979"/>
          </a:xfrm>
          <a:custGeom>
            <a:avLst/>
            <a:gdLst/>
            <a:ahLst/>
            <a:cxnLst/>
            <a:rect l="l" t="t" r="r" b="b"/>
            <a:pathLst>
              <a:path w="3365091" h="5478979">
                <a:moveTo>
                  <a:pt x="0" y="0"/>
                </a:moveTo>
                <a:lnTo>
                  <a:pt x="3365091" y="0"/>
                </a:lnTo>
                <a:lnTo>
                  <a:pt x="3365091" y="5478979"/>
                </a:lnTo>
                <a:lnTo>
                  <a:pt x="0" y="54789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4203" t="-5537" r="-3476" b="-3851"/>
            </a:stretch>
          </a:blipFill>
          <a:ln w="38100" cap="rnd">
            <a:solidFill>
              <a:srgbClr val="2C641B"/>
            </a:solidFill>
            <a:prstDash val="solid"/>
            <a:round/>
          </a:ln>
        </p:spPr>
      </p:sp>
      <p:sp>
        <p:nvSpPr>
          <p:cNvPr id="19" name="Freeform 19"/>
          <p:cNvSpPr/>
          <p:nvPr/>
        </p:nvSpPr>
        <p:spPr>
          <a:xfrm>
            <a:off x="11749379" y="3523665"/>
            <a:ext cx="2758056" cy="2781160"/>
          </a:xfrm>
          <a:custGeom>
            <a:avLst/>
            <a:gdLst/>
            <a:ahLst/>
            <a:cxnLst/>
            <a:rect l="l" t="t" r="r" b="b"/>
            <a:pathLst>
              <a:path w="2758056" h="2781160">
                <a:moveTo>
                  <a:pt x="0" y="0"/>
                </a:moveTo>
                <a:lnTo>
                  <a:pt x="2758056" y="0"/>
                </a:lnTo>
                <a:lnTo>
                  <a:pt x="2758056" y="2781160"/>
                </a:lnTo>
                <a:lnTo>
                  <a:pt x="0" y="278116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t="-47450" b="-21059"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8768934" y="3337565"/>
            <a:ext cx="2313695" cy="3895512"/>
          </a:xfrm>
          <a:custGeom>
            <a:avLst/>
            <a:gdLst/>
            <a:ahLst/>
            <a:cxnLst/>
            <a:rect l="l" t="t" r="r" b="b"/>
            <a:pathLst>
              <a:path w="2313695" h="3895512">
                <a:moveTo>
                  <a:pt x="0" y="0"/>
                </a:moveTo>
                <a:lnTo>
                  <a:pt x="2313695" y="0"/>
                </a:lnTo>
                <a:lnTo>
                  <a:pt x="2313695" y="3895511"/>
                </a:lnTo>
                <a:lnTo>
                  <a:pt x="0" y="389551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5465" t="-3606"/>
            </a:stretch>
          </a:blipFill>
          <a:ln w="38100" cap="rnd">
            <a:solidFill>
              <a:srgbClr val="2C641B"/>
            </a:solidFill>
            <a:prstDash val="solid"/>
            <a:round/>
          </a:ln>
        </p:spPr>
      </p:sp>
      <p:sp>
        <p:nvSpPr>
          <p:cNvPr id="21" name="Freeform 21"/>
          <p:cNvSpPr/>
          <p:nvPr/>
        </p:nvSpPr>
        <p:spPr>
          <a:xfrm>
            <a:off x="8827816" y="3866301"/>
            <a:ext cx="2069486" cy="1801791"/>
          </a:xfrm>
          <a:custGeom>
            <a:avLst/>
            <a:gdLst/>
            <a:ahLst/>
            <a:cxnLst/>
            <a:rect l="l" t="t" r="r" b="b"/>
            <a:pathLst>
              <a:path w="2069486" h="1801791">
                <a:moveTo>
                  <a:pt x="0" y="0"/>
                </a:moveTo>
                <a:lnTo>
                  <a:pt x="2069486" y="0"/>
                </a:lnTo>
                <a:lnTo>
                  <a:pt x="2069486" y="1801791"/>
                </a:lnTo>
                <a:lnTo>
                  <a:pt x="0" y="180179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6297390" y="8490145"/>
            <a:ext cx="79385" cy="271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4"/>
              </a:lnSpc>
            </a:pPr>
            <a:r>
              <a:rPr lang="en-US" sz="1567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3</a:t>
            </a:r>
          </a:p>
        </p:txBody>
      </p:sp>
      <p:sp>
        <p:nvSpPr>
          <p:cNvPr id="23" name="Freeform 23"/>
          <p:cNvSpPr/>
          <p:nvPr/>
        </p:nvSpPr>
        <p:spPr>
          <a:xfrm>
            <a:off x="6664091" y="8014875"/>
            <a:ext cx="3335404" cy="1340254"/>
          </a:xfrm>
          <a:custGeom>
            <a:avLst/>
            <a:gdLst/>
            <a:ahLst/>
            <a:cxnLst/>
            <a:rect l="l" t="t" r="r" b="b"/>
            <a:pathLst>
              <a:path w="3335404" h="1340254">
                <a:moveTo>
                  <a:pt x="0" y="0"/>
                </a:moveTo>
                <a:lnTo>
                  <a:pt x="3335404" y="0"/>
                </a:lnTo>
                <a:lnTo>
                  <a:pt x="3335404" y="1340254"/>
                </a:lnTo>
                <a:lnTo>
                  <a:pt x="0" y="134025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6951919" y="7998538"/>
            <a:ext cx="893092" cy="1052573"/>
          </a:xfrm>
          <a:custGeom>
            <a:avLst/>
            <a:gdLst/>
            <a:ahLst/>
            <a:cxnLst/>
            <a:rect l="l" t="t" r="r" b="b"/>
            <a:pathLst>
              <a:path w="893092" h="1052573">
                <a:moveTo>
                  <a:pt x="0" y="0"/>
                </a:moveTo>
                <a:lnTo>
                  <a:pt x="893092" y="0"/>
                </a:lnTo>
                <a:lnTo>
                  <a:pt x="893092" y="1052573"/>
                </a:lnTo>
                <a:lnTo>
                  <a:pt x="0" y="105257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8404498" y="1614098"/>
            <a:ext cx="3189994" cy="1281824"/>
          </a:xfrm>
          <a:custGeom>
            <a:avLst/>
            <a:gdLst/>
            <a:ahLst/>
            <a:cxnLst/>
            <a:rect l="l" t="t" r="r" b="b"/>
            <a:pathLst>
              <a:path w="3189994" h="1281824">
                <a:moveTo>
                  <a:pt x="0" y="0"/>
                </a:moveTo>
                <a:lnTo>
                  <a:pt x="3189994" y="0"/>
                </a:lnTo>
                <a:lnTo>
                  <a:pt x="3189994" y="1281824"/>
                </a:lnTo>
                <a:lnTo>
                  <a:pt x="0" y="128182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8679004" y="1595584"/>
            <a:ext cx="815706" cy="961368"/>
          </a:xfrm>
          <a:custGeom>
            <a:avLst/>
            <a:gdLst/>
            <a:ahLst/>
            <a:cxnLst/>
            <a:rect l="l" t="t" r="r" b="b"/>
            <a:pathLst>
              <a:path w="815706" h="961368">
                <a:moveTo>
                  <a:pt x="0" y="0"/>
                </a:moveTo>
                <a:lnTo>
                  <a:pt x="815706" y="0"/>
                </a:lnTo>
                <a:lnTo>
                  <a:pt x="815706" y="961368"/>
                </a:lnTo>
                <a:lnTo>
                  <a:pt x="0" y="96136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7" name="AutoShape 27"/>
          <p:cNvSpPr/>
          <p:nvPr/>
        </p:nvSpPr>
        <p:spPr>
          <a:xfrm flipH="1">
            <a:off x="7805866" y="8014875"/>
            <a:ext cx="2639319" cy="0"/>
          </a:xfrm>
          <a:prstGeom prst="line">
            <a:avLst/>
          </a:prstGeom>
          <a:ln w="38100" cap="flat">
            <a:solidFill>
              <a:srgbClr val="2C641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AutoShape 28"/>
          <p:cNvSpPr/>
          <p:nvPr/>
        </p:nvSpPr>
        <p:spPr>
          <a:xfrm flipH="1">
            <a:off x="10445184" y="7998538"/>
            <a:ext cx="0" cy="1574087"/>
          </a:xfrm>
          <a:prstGeom prst="line">
            <a:avLst/>
          </a:prstGeom>
          <a:ln w="38100" cap="flat">
            <a:solidFill>
              <a:srgbClr val="2C641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" name="TextBox 30"/>
          <p:cNvSpPr txBox="1"/>
          <p:nvPr/>
        </p:nvSpPr>
        <p:spPr>
          <a:xfrm>
            <a:off x="764591" y="4438069"/>
            <a:ext cx="2157657" cy="981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740">
                <a:solidFill>
                  <a:srgbClr val="2C641B"/>
                </a:solidFill>
                <a:latin typeface="Arial"/>
                <a:ea typeface="Arial"/>
                <a:cs typeface="Arial"/>
                <a:sym typeface="Arial"/>
              </a:rPr>
              <a:t>Very few farmers can currently sell crops directly to market.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11959" y="6750941"/>
            <a:ext cx="3991099" cy="1332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3"/>
              </a:lnSpc>
            </a:pPr>
            <a:r>
              <a:rPr lang="en-US" sz="1769">
                <a:solidFill>
                  <a:srgbClr val="2C641B"/>
                </a:solidFill>
                <a:latin typeface="Arial"/>
                <a:ea typeface="Arial"/>
                <a:cs typeface="Arial"/>
                <a:sym typeface="Arial"/>
              </a:rPr>
              <a:t>Farmers are forced to sell to village middlemen at lower prices; middlemen supply the market and earn a strong trading margin, reducing farmer income.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101688" y="5717344"/>
            <a:ext cx="1795613" cy="828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2"/>
              </a:lnSpc>
            </a:pPr>
            <a:r>
              <a:rPr lang="en-US" sz="1494">
                <a:solidFill>
                  <a:srgbClr val="2C641B"/>
                </a:solidFill>
                <a:latin typeface="Arial"/>
                <a:ea typeface="Arial"/>
                <a:cs typeface="Arial"/>
                <a:sym typeface="Arial"/>
              </a:rPr>
              <a:t>Empowers farmers with fair pricing and direct market access.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11134" y="5357992"/>
            <a:ext cx="93662" cy="332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88"/>
              </a:lnSpc>
            </a:pPr>
            <a:r>
              <a:rPr lang="en-US" sz="1849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2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519948" y="7810632"/>
            <a:ext cx="111405" cy="384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3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696520" y="6344627"/>
            <a:ext cx="2928639" cy="1449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6"/>
              </a:lnSpc>
            </a:pPr>
            <a:r>
              <a:rPr lang="en-US" sz="1944">
                <a:solidFill>
                  <a:srgbClr val="2C641B"/>
                </a:solidFill>
                <a:latin typeface="Arial"/>
                <a:ea typeface="Arial"/>
                <a:cs typeface="Arial"/>
                <a:sym typeface="Arial"/>
              </a:rPr>
              <a:t>Customers receive fresh produce directly from farmers, ensuring quality and transparency.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741626" y="3913500"/>
            <a:ext cx="2922465" cy="2203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8"/>
              </a:lnSpc>
            </a:pPr>
            <a:r>
              <a:rPr lang="en-US" sz="1652">
                <a:solidFill>
                  <a:srgbClr val="2C641B"/>
                </a:solidFill>
                <a:latin typeface="Arial"/>
                <a:ea typeface="Arial"/>
                <a:cs typeface="Arial"/>
                <a:sym typeface="Arial"/>
              </a:rPr>
              <a:t>KISAN SETU eliminates middlemen by connecting farmers directly with customers and providing end-to-end logistics support.</a:t>
            </a:r>
          </a:p>
          <a:p>
            <a:pPr algn="l">
              <a:lnSpc>
                <a:spcPts val="2478"/>
              </a:lnSpc>
            </a:pPr>
            <a:endParaRPr lang="en-US" sz="1652">
              <a:solidFill>
                <a:srgbClr val="2C641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2478"/>
              </a:lnSpc>
            </a:pPr>
            <a:endParaRPr lang="en-US" sz="1652">
              <a:solidFill>
                <a:srgbClr val="2C641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2334795" y="10703663"/>
            <a:ext cx="1145033" cy="549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1"/>
              </a:lnSpc>
            </a:pPr>
            <a:r>
              <a:rPr lang="en-US" sz="727" b="1">
                <a:solidFill>
                  <a:srgbClr val="2C641B"/>
                </a:solidFill>
                <a:latin typeface="Arial Bold"/>
                <a:ea typeface="Arial Bold"/>
                <a:cs typeface="Arial Bold"/>
                <a:sym typeface="Arial Bold"/>
              </a:rPr>
              <a:t>Farmers only list their crop varieties and order booking through order completion.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590989" y="12146396"/>
            <a:ext cx="1014322" cy="84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8"/>
              </a:lnSpc>
            </a:pPr>
            <a:r>
              <a:rPr lang="en-US" sz="581" b="1">
                <a:solidFill>
                  <a:srgbClr val="2C641B"/>
                </a:solidFill>
                <a:latin typeface="Arial Bold"/>
                <a:ea typeface="Arial Bold"/>
                <a:cs typeface="Arial Bold"/>
                <a:sym typeface="Arial Bold"/>
              </a:rPr>
              <a:t>TRUST &amp; TRANSPARENCY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819678" y="12133603"/>
            <a:ext cx="857468" cy="101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"/>
              </a:lnSpc>
            </a:pPr>
            <a:r>
              <a:rPr lang="en-US" sz="606" b="1">
                <a:solidFill>
                  <a:srgbClr val="2C641B"/>
                </a:solidFill>
                <a:latin typeface="Arial Bold"/>
                <a:ea typeface="Arial Bold"/>
                <a:cs typeface="Arial Bold"/>
                <a:sym typeface="Arial Bold"/>
              </a:rPr>
              <a:t>SCALABLE &amp; SECURE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016996" y="12146396"/>
            <a:ext cx="533303" cy="84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8"/>
              </a:lnSpc>
            </a:pPr>
            <a:r>
              <a:rPr lang="en-US" sz="581" b="1">
                <a:solidFill>
                  <a:srgbClr val="2C641B"/>
                </a:solidFill>
                <a:latin typeface="Arial Bold"/>
                <a:ea typeface="Arial Bold"/>
                <a:cs typeface="Arial Bold"/>
                <a:sym typeface="Arial Bold"/>
              </a:rPr>
              <a:t>WIDE REACH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874464" y="12146396"/>
            <a:ext cx="857468" cy="84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9"/>
              </a:lnSpc>
            </a:pPr>
            <a:r>
              <a:rPr lang="en-US" sz="557" b="1">
                <a:solidFill>
                  <a:srgbClr val="2C641B"/>
                </a:solidFill>
                <a:latin typeface="Arial Bold"/>
                <a:ea typeface="Arial Bold"/>
                <a:cs typeface="Arial Bold"/>
                <a:sym typeface="Arial Bold"/>
              </a:rPr>
              <a:t>SUSTAINABLE IMPACT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726929" y="12310063"/>
            <a:ext cx="752899" cy="284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6"/>
              </a:lnSpc>
            </a:pPr>
            <a:r>
              <a:rPr lang="en-US" sz="630" b="1">
                <a:solidFill>
                  <a:srgbClr val="2C641B"/>
                </a:solidFill>
                <a:latin typeface="Arial Bold"/>
                <a:ea typeface="Arial Bold"/>
                <a:cs typeface="Arial Bold"/>
                <a:sym typeface="Arial Bold"/>
              </a:rPr>
              <a:t>Verified farmers, quality assurance &amp; secure platform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803992" y="12310063"/>
            <a:ext cx="878382" cy="284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"/>
              </a:lnSpc>
            </a:pPr>
            <a:r>
              <a:rPr lang="en-US" sz="606" b="1">
                <a:solidFill>
                  <a:srgbClr val="2C641B"/>
                </a:solidFill>
                <a:latin typeface="Arial Bold"/>
                <a:ea typeface="Arial Bold"/>
                <a:cs typeface="Arial Bold"/>
                <a:sym typeface="Arial Bold"/>
              </a:rPr>
              <a:t>Cloud infrastructure with backups, secure access &amp; analytics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922883" y="12339473"/>
            <a:ext cx="721528" cy="225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0"/>
              </a:lnSpc>
            </a:pPr>
            <a:r>
              <a:rPr lang="en-US" sz="508" b="1">
                <a:solidFill>
                  <a:srgbClr val="2C641B"/>
                </a:solidFill>
                <a:latin typeface="Arial Bold"/>
                <a:ea typeface="Arial Bold"/>
                <a:cs typeface="Arial Bold"/>
                <a:sym typeface="Arial Bold"/>
              </a:rPr>
              <a:t>Bringing rural producers and urban consumers closer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937205" y="12310063"/>
            <a:ext cx="752899" cy="284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6"/>
              </a:lnSpc>
            </a:pPr>
            <a:r>
              <a:rPr lang="en-US" sz="630" b="1">
                <a:solidFill>
                  <a:srgbClr val="2C641B"/>
                </a:solidFill>
                <a:latin typeface="Arial Bold"/>
                <a:ea typeface="Arial Bold"/>
                <a:cs typeface="Arial Bold"/>
                <a:sym typeface="Arial Bold"/>
              </a:rPr>
              <a:t>Better income for farmers, healthy food for everyone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955506" y="8378435"/>
            <a:ext cx="1352438" cy="434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5"/>
              </a:lnSpc>
            </a:pPr>
            <a:r>
              <a:rPr lang="en-US" sz="2546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IMPACT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664437" y="1955606"/>
            <a:ext cx="1561495" cy="419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3"/>
              </a:lnSpc>
            </a:pPr>
            <a:r>
              <a:rPr lang="en-US" sz="2381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BENEFITS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271504" y="2343540"/>
            <a:ext cx="443742" cy="552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8"/>
              </a:lnSpc>
            </a:pPr>
            <a:r>
              <a:rPr lang="en-US" sz="1598">
                <a:solidFill>
                  <a:srgbClr val="2C641B"/>
                </a:solidFill>
                <a:latin typeface="Anton"/>
                <a:ea typeface="Anton"/>
                <a:cs typeface="Anton"/>
                <a:sym typeface="Anton"/>
              </a:rPr>
              <a:t>KISAN</a:t>
            </a:r>
          </a:p>
          <a:p>
            <a:pPr algn="ctr">
              <a:lnSpc>
                <a:spcPts val="2238"/>
              </a:lnSpc>
            </a:pPr>
            <a:r>
              <a:rPr lang="en-US" sz="1598">
                <a:solidFill>
                  <a:srgbClr val="2C641B"/>
                </a:solidFill>
                <a:latin typeface="Anton"/>
                <a:ea typeface="Anton"/>
                <a:cs typeface="Anton"/>
                <a:sym typeface="Anton"/>
              </a:rPr>
              <a:t>SETU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4937872" y="3903975"/>
            <a:ext cx="3199419" cy="2782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7"/>
              </a:lnSpc>
            </a:pPr>
            <a:r>
              <a:rPr lang="en-US" sz="2458">
                <a:solidFill>
                  <a:srgbClr val="2C641B"/>
                </a:solidFill>
                <a:latin typeface="Arial"/>
                <a:ea typeface="Arial"/>
                <a:cs typeface="Arial"/>
                <a:sym typeface="Arial"/>
              </a:rPr>
              <a:t>Streamlined order management</a:t>
            </a:r>
          </a:p>
          <a:p>
            <a:pPr algn="l">
              <a:lnSpc>
                <a:spcPts val="3687"/>
              </a:lnSpc>
            </a:pPr>
            <a:r>
              <a:rPr lang="en-US" sz="2458">
                <a:solidFill>
                  <a:srgbClr val="2C641B"/>
                </a:solidFill>
                <a:latin typeface="Arial"/>
                <a:ea typeface="Arial"/>
                <a:cs typeface="Arial"/>
                <a:sym typeface="Arial"/>
              </a:rPr>
              <a:t> and logistics handled by KISAN SETU simplify transactions for both parties.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15390203" y="14097"/>
            <a:ext cx="2611555" cy="1320288"/>
            <a:chOff x="0" y="0"/>
            <a:chExt cx="4442117" cy="2245741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4442079" cy="2245741"/>
            </a:xfrm>
            <a:custGeom>
              <a:avLst/>
              <a:gdLst/>
              <a:ahLst/>
              <a:cxnLst/>
              <a:rect l="l" t="t" r="r" b="b"/>
              <a:pathLst>
                <a:path w="4442079" h="2245741">
                  <a:moveTo>
                    <a:pt x="0" y="0"/>
                  </a:moveTo>
                  <a:lnTo>
                    <a:pt x="4442079" y="0"/>
                  </a:lnTo>
                  <a:lnTo>
                    <a:pt x="4442079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/>
              </a:stretch>
            </a:blipFill>
          </p:spPr>
        </p:sp>
      </p:grpSp>
      <p:sp>
        <p:nvSpPr>
          <p:cNvPr id="52" name="AutoShape 52"/>
          <p:cNvSpPr/>
          <p:nvPr/>
        </p:nvSpPr>
        <p:spPr>
          <a:xfrm flipH="1">
            <a:off x="-2" y="1423797"/>
            <a:ext cx="18288001" cy="0"/>
          </a:xfrm>
          <a:prstGeom prst="line">
            <a:avLst/>
          </a:prstGeom>
          <a:ln w="38100" cap="flat">
            <a:solidFill>
              <a:srgbClr val="2C641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3" name="Freeform 62">
            <a:extLst>
              <a:ext uri="{FF2B5EF4-FFF2-40B4-BE49-F238E27FC236}">
                <a16:creationId xmlns:a16="http://schemas.microsoft.com/office/drawing/2014/main" id="{0906B524-3B89-0AC6-C40D-3D912C189BF5}"/>
              </a:ext>
            </a:extLst>
          </p:cNvPr>
          <p:cNvSpPr/>
          <p:nvPr/>
        </p:nvSpPr>
        <p:spPr>
          <a:xfrm>
            <a:off x="2327626" y="181720"/>
            <a:ext cx="1608815" cy="989255"/>
          </a:xfrm>
          <a:custGeom>
            <a:avLst/>
            <a:gdLst/>
            <a:ahLst/>
            <a:cxnLst/>
            <a:rect l="l" t="t" r="r" b="b"/>
            <a:pathLst>
              <a:path w="1608815" h="989255">
                <a:moveTo>
                  <a:pt x="0" y="0"/>
                </a:moveTo>
                <a:lnTo>
                  <a:pt x="1608814" y="0"/>
                </a:lnTo>
                <a:lnTo>
                  <a:pt x="1608814" y="989255"/>
                </a:lnTo>
                <a:lnTo>
                  <a:pt x="0" y="98925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54" name="Oval 53" descr="Your startup LOGO">
            <a:extLst>
              <a:ext uri="{FF2B5EF4-FFF2-40B4-BE49-F238E27FC236}">
                <a16:creationId xmlns:a16="http://schemas.microsoft.com/office/drawing/2014/main" id="{AC9B305A-0AD2-1A9D-55C3-B71CD863FD9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751946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Smooth Operators</a:t>
            </a: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770223" y="-201569"/>
            <a:ext cx="12469777" cy="1714500"/>
            <a:chOff x="0" y="0"/>
            <a:chExt cx="16626369" cy="228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626370" cy="2286000"/>
            </a:xfrm>
            <a:custGeom>
              <a:avLst/>
              <a:gdLst/>
              <a:ahLst/>
              <a:cxnLst/>
              <a:rect l="l" t="t" r="r" b="b"/>
              <a:pathLst>
                <a:path w="16626370" h="2286000">
                  <a:moveTo>
                    <a:pt x="0" y="0"/>
                  </a:moveTo>
                  <a:lnTo>
                    <a:pt x="16626370" y="0"/>
                  </a:lnTo>
                  <a:lnTo>
                    <a:pt x="1662637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r="-31992" b="-13705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6626369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48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6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@SIH Idea submission- Template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10583322" y="2227031"/>
            <a:ext cx="2870238" cy="1803640"/>
          </a:xfrm>
          <a:custGeom>
            <a:avLst/>
            <a:gdLst/>
            <a:ahLst/>
            <a:cxnLst/>
            <a:rect l="l" t="t" r="r" b="b"/>
            <a:pathLst>
              <a:path w="2870238" h="1803640">
                <a:moveTo>
                  <a:pt x="0" y="0"/>
                </a:moveTo>
                <a:lnTo>
                  <a:pt x="2870238" y="0"/>
                </a:lnTo>
                <a:lnTo>
                  <a:pt x="2870238" y="1803641"/>
                </a:lnTo>
                <a:lnTo>
                  <a:pt x="0" y="18036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2308" t="-1859" b="-1859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542149" y="2161787"/>
            <a:ext cx="10102079" cy="1868885"/>
          </a:xfrm>
          <a:custGeom>
            <a:avLst/>
            <a:gdLst/>
            <a:ahLst/>
            <a:cxnLst/>
            <a:rect l="l" t="t" r="r" b="b"/>
            <a:pathLst>
              <a:path w="10102079" h="1868885">
                <a:moveTo>
                  <a:pt x="0" y="0"/>
                </a:moveTo>
                <a:lnTo>
                  <a:pt x="10102079" y="0"/>
                </a:lnTo>
                <a:lnTo>
                  <a:pt x="10102079" y="1868885"/>
                </a:lnTo>
                <a:lnTo>
                  <a:pt x="0" y="18688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7595226" y="4381500"/>
            <a:ext cx="9927481" cy="5045538"/>
            <a:chOff x="0" y="0"/>
            <a:chExt cx="2614645" cy="148841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614645" cy="1488415"/>
            </a:xfrm>
            <a:custGeom>
              <a:avLst/>
              <a:gdLst/>
              <a:ahLst/>
              <a:cxnLst/>
              <a:rect l="l" t="t" r="r" b="b"/>
              <a:pathLst>
                <a:path w="2614645" h="1488415">
                  <a:moveTo>
                    <a:pt x="39772" y="0"/>
                  </a:moveTo>
                  <a:lnTo>
                    <a:pt x="2574873" y="0"/>
                  </a:lnTo>
                  <a:cubicBezTo>
                    <a:pt x="2585421" y="0"/>
                    <a:pt x="2595538" y="4190"/>
                    <a:pt x="2602996" y="11649"/>
                  </a:cubicBezTo>
                  <a:cubicBezTo>
                    <a:pt x="2610455" y="19108"/>
                    <a:pt x="2614645" y="29224"/>
                    <a:pt x="2614645" y="39772"/>
                  </a:cubicBezTo>
                  <a:lnTo>
                    <a:pt x="2614645" y="1448643"/>
                  </a:lnTo>
                  <a:cubicBezTo>
                    <a:pt x="2614645" y="1459191"/>
                    <a:pt x="2610455" y="1469308"/>
                    <a:pt x="2602996" y="1476766"/>
                  </a:cubicBezTo>
                  <a:cubicBezTo>
                    <a:pt x="2595538" y="1484225"/>
                    <a:pt x="2585421" y="1488415"/>
                    <a:pt x="2574873" y="1488415"/>
                  </a:cubicBezTo>
                  <a:lnTo>
                    <a:pt x="39772" y="1488415"/>
                  </a:lnTo>
                  <a:cubicBezTo>
                    <a:pt x="29224" y="1488415"/>
                    <a:pt x="19108" y="1484225"/>
                    <a:pt x="11649" y="1476766"/>
                  </a:cubicBezTo>
                  <a:cubicBezTo>
                    <a:pt x="4190" y="1469308"/>
                    <a:pt x="0" y="1459191"/>
                    <a:pt x="0" y="1448643"/>
                  </a:cubicBezTo>
                  <a:lnTo>
                    <a:pt x="0" y="39772"/>
                  </a:lnTo>
                  <a:cubicBezTo>
                    <a:pt x="0" y="29224"/>
                    <a:pt x="4190" y="19108"/>
                    <a:pt x="11649" y="11649"/>
                  </a:cubicBezTo>
                  <a:cubicBezTo>
                    <a:pt x="19108" y="4190"/>
                    <a:pt x="29224" y="0"/>
                    <a:pt x="39772" y="0"/>
                  </a:cubicBezTo>
                  <a:close/>
                </a:path>
              </a:pathLst>
            </a:custGeom>
            <a:solidFill>
              <a:srgbClr val="F4F6F7"/>
            </a:solidFill>
            <a:ln w="38100" cap="rnd">
              <a:solidFill>
                <a:srgbClr val="1A70BC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614645" cy="15265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96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0" y="9534525"/>
            <a:ext cx="18288000" cy="754856"/>
            <a:chOff x="0" y="0"/>
            <a:chExt cx="24384000" cy="100647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-24976" y="1290504"/>
            <a:ext cx="10102079" cy="660578"/>
            <a:chOff x="0" y="0"/>
            <a:chExt cx="3034438" cy="17397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034438" cy="173979"/>
            </a:xfrm>
            <a:custGeom>
              <a:avLst/>
              <a:gdLst/>
              <a:ahLst/>
              <a:cxnLst/>
              <a:rect l="l" t="t" r="r" b="b"/>
              <a:pathLst>
                <a:path w="3034438" h="173979">
                  <a:moveTo>
                    <a:pt x="0" y="0"/>
                  </a:moveTo>
                  <a:lnTo>
                    <a:pt x="3034438" y="0"/>
                  </a:lnTo>
                  <a:lnTo>
                    <a:pt x="3034438" y="173979"/>
                  </a:lnTo>
                  <a:lnTo>
                    <a:pt x="0" y="173979"/>
                  </a:lnTo>
                  <a:close/>
                </a:path>
              </a:pathLst>
            </a:custGeom>
            <a:solidFill>
              <a:srgbClr val="F4F6F7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034438" cy="2120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96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13808721" y="1988373"/>
            <a:ext cx="2437348" cy="2335388"/>
          </a:xfrm>
          <a:custGeom>
            <a:avLst/>
            <a:gdLst/>
            <a:ahLst/>
            <a:cxnLst/>
            <a:rect l="l" t="t" r="r" b="b"/>
            <a:pathLst>
              <a:path w="2437348" h="2335388">
                <a:moveTo>
                  <a:pt x="0" y="0"/>
                </a:moveTo>
                <a:lnTo>
                  <a:pt x="2437347" y="0"/>
                </a:lnTo>
                <a:lnTo>
                  <a:pt x="2437347" y="2335387"/>
                </a:lnTo>
                <a:lnTo>
                  <a:pt x="0" y="23353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8000"/>
            </a:blip>
            <a:stretch>
              <a:fillRect r="-105138" b="-31646"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028700" y="4380910"/>
            <a:ext cx="5547391" cy="4880020"/>
          </a:xfrm>
          <a:custGeom>
            <a:avLst/>
            <a:gdLst/>
            <a:ahLst/>
            <a:cxnLst/>
            <a:rect l="l" t="t" r="r" b="b"/>
            <a:pathLst>
              <a:path w="5547391" h="4880020">
                <a:moveTo>
                  <a:pt x="0" y="0"/>
                </a:moveTo>
                <a:lnTo>
                  <a:pt x="5547391" y="0"/>
                </a:lnTo>
                <a:lnTo>
                  <a:pt x="5547391" y="4880020"/>
                </a:lnTo>
                <a:lnTo>
                  <a:pt x="0" y="48800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01" r="-701"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427765" y="1376445"/>
            <a:ext cx="9257109" cy="466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8141" lvl="1" indent="-284071" algn="l">
              <a:lnSpc>
                <a:spcPts val="3684"/>
              </a:lnSpc>
              <a:buFont typeface="Arial"/>
              <a:buChar char="•"/>
            </a:pPr>
            <a:r>
              <a:rPr lang="en-US" sz="2631" b="1" i="1">
                <a:solidFill>
                  <a:srgbClr val="0070C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Current Farm-to-Market Journey: The Existing Pipeline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95229" y="2422816"/>
            <a:ext cx="1627227" cy="1111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4"/>
              </a:lnSpc>
              <a:spcBef>
                <a:spcPct val="0"/>
              </a:spcBef>
            </a:pPr>
            <a:r>
              <a:rPr lang="en-US" sz="1603" b="1" u="none" strike="noStrik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Village aggregators / kaccha arhatiyas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432544" y="2607850"/>
            <a:ext cx="1543253" cy="926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68"/>
              </a:lnSpc>
              <a:spcBef>
                <a:spcPct val="0"/>
              </a:spcBef>
            </a:pPr>
            <a:r>
              <a:rPr lang="en-US" sz="1762" b="1" u="none" strike="noStrik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APMC mandis / commission agents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090986" y="2560928"/>
            <a:ext cx="1724529" cy="83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4"/>
              </a:lnSpc>
              <a:spcBef>
                <a:spcPct val="0"/>
              </a:spcBef>
            </a:pPr>
            <a:r>
              <a:rPr lang="en-US" sz="1603" b="1" u="none" strike="noStrik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Secondary wholesalers / inter-city transit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034714" y="2585255"/>
            <a:ext cx="1500228" cy="83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4"/>
              </a:lnSpc>
              <a:spcBef>
                <a:spcPct val="0"/>
              </a:spcBef>
            </a:pPr>
            <a:r>
              <a:rPr lang="en-US" sz="1603" b="1" u="none" strike="noStrik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Sub-mandi traders / last-mile retailers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056541" y="2762426"/>
            <a:ext cx="1275589" cy="559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4"/>
              </a:lnSpc>
              <a:spcBef>
                <a:spcPct val="0"/>
              </a:spcBef>
            </a:pPr>
            <a:r>
              <a:rPr lang="en-US" sz="1603" b="1" u="none" strike="noStrik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Distress sale after harvest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030218" y="4583656"/>
            <a:ext cx="6066782" cy="4211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98"/>
              </a:lnSpc>
            </a:pPr>
            <a:r>
              <a:rPr lang="en-US" sz="2712" dirty="0">
                <a:solidFill>
                  <a:srgbClr val="0070C0"/>
                </a:solidFill>
                <a:latin typeface="Bernoru SemiCondensed"/>
                <a:ea typeface="Bernoru SemiCondensed"/>
                <a:cs typeface="Bernoru SemiCondensed"/>
                <a:sym typeface="Bernoru SemiCondensed"/>
              </a:rPr>
              <a:t>Evidence Base and Policy Direction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114395" y="5096772"/>
            <a:ext cx="5482947" cy="399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9932" lvl="1" indent="-244966" algn="l">
              <a:lnSpc>
                <a:spcPts val="3176"/>
              </a:lnSpc>
              <a:buFont typeface="Arial"/>
              <a:buChar char="•"/>
            </a:pPr>
            <a:r>
              <a:rPr lang="en-US" sz="2269" b="1" dirty="0">
                <a:solidFill>
                  <a:srgbClr val="415861"/>
                </a:solidFill>
                <a:latin typeface="Arial Bold"/>
                <a:ea typeface="Arial Bold"/>
                <a:cs typeface="Arial Bold"/>
                <a:sym typeface="Arial Bold"/>
              </a:rPr>
              <a:t>RBI vegetable value-chain study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622149" y="5465118"/>
            <a:ext cx="8188815" cy="334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79"/>
              </a:lnSpc>
              <a:spcBef>
                <a:spcPct val="0"/>
              </a:spcBef>
            </a:pPr>
            <a:r>
              <a:rPr lang="en-US" sz="1842" u="sng">
                <a:solidFill>
                  <a:srgbClr val="415861"/>
                </a:solidFill>
                <a:latin typeface="Arial"/>
                <a:ea typeface="Arial"/>
                <a:cs typeface="Arial"/>
                <a:sym typeface="Arial"/>
                <a:hlinkClick r:id="rId7" tooltip="https://timesofindia.indiatimes.com/business/india-business/farmers-get-third%20of-veggies-retail-price-rbi-study/articleshow/113994248.cms"/>
              </a:rPr>
              <a:t>Highlights price spread, market frictions, and post-harvest transmission issues.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112940" y="5973151"/>
            <a:ext cx="5401526" cy="399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0113" lvl="1" indent="-245056" algn="l">
              <a:lnSpc>
                <a:spcPts val="3178"/>
              </a:lnSpc>
              <a:spcBef>
                <a:spcPct val="0"/>
              </a:spcBef>
              <a:buFont typeface="Arial"/>
              <a:buChar char="•"/>
            </a:pPr>
            <a:r>
              <a:rPr lang="en-US" sz="2270" b="1" u="none" strike="noStrike">
                <a:solidFill>
                  <a:srgbClr val="415861"/>
                </a:solidFill>
                <a:latin typeface="Arial Bold"/>
                <a:ea typeface="Arial Bold"/>
                <a:cs typeface="Arial Bold"/>
                <a:sym typeface="Arial Bold"/>
              </a:rPr>
              <a:t>NITI Aayog APMC reform analysis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577707" y="6270968"/>
            <a:ext cx="8185309" cy="334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79"/>
              </a:lnSpc>
              <a:spcBef>
                <a:spcPct val="0"/>
              </a:spcBef>
            </a:pPr>
            <a:r>
              <a:rPr lang="en-US" sz="1842" u="sng">
                <a:solidFill>
                  <a:srgbClr val="415861"/>
                </a:solidFill>
                <a:latin typeface="Arial"/>
                <a:ea typeface="Arial"/>
                <a:cs typeface="Arial"/>
                <a:sym typeface="Arial"/>
                <a:hlinkClick r:id="rId8" tooltip="https://www.thehindu.com/news/%20national/niti-aayog-member-suggests%20changes-to-apmc-system-power-subsidy%20to-farmers/article67094736.ece"/>
              </a:rPr>
              <a:t>Examines market structure, competition, and reform options in APMC systems.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114394" y="6751053"/>
            <a:ext cx="5982605" cy="3740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90113" lvl="1" indent="-245056" algn="l">
              <a:lnSpc>
                <a:spcPts val="3178"/>
              </a:lnSpc>
              <a:spcBef>
                <a:spcPct val="0"/>
              </a:spcBef>
              <a:buFont typeface="Arial"/>
              <a:buChar char="•"/>
            </a:pPr>
            <a:r>
              <a:rPr lang="en-US" sz="2270" b="1" u="none" strike="noStrike" dirty="0">
                <a:solidFill>
                  <a:srgbClr val="415861"/>
                </a:solidFill>
                <a:latin typeface="Arial Bold"/>
                <a:ea typeface="Arial Bold"/>
                <a:cs typeface="Arial Bold"/>
                <a:sym typeface="Arial Bold"/>
              </a:rPr>
              <a:t>Official PIB post-harvest loss study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553733" y="7102968"/>
            <a:ext cx="8233257" cy="303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79"/>
              </a:lnSpc>
              <a:spcBef>
                <a:spcPct val="0"/>
              </a:spcBef>
            </a:pPr>
            <a:r>
              <a:rPr lang="en-US" sz="1842" u="none" strike="noStrike" dirty="0">
                <a:solidFill>
                  <a:srgbClr val="415861"/>
                </a:solidFill>
                <a:latin typeface="Arial"/>
                <a:ea typeface="Arial"/>
                <a:cs typeface="Arial"/>
                <a:sym typeface="Arial"/>
                <a:hlinkClick r:id="rId9"/>
              </a:rPr>
              <a:t>Documents losses, wastage, and the need for storage and logistics upgrades.</a:t>
            </a:r>
            <a:endParaRPr lang="en-US" sz="1842" u="none" strike="noStrike" dirty="0">
              <a:solidFill>
                <a:srgbClr val="41586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8112940" y="7584430"/>
            <a:ext cx="10175060" cy="374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0113" lvl="1" indent="-245056" algn="l">
              <a:lnSpc>
                <a:spcPts val="3178"/>
              </a:lnSpc>
              <a:spcBef>
                <a:spcPct val="0"/>
              </a:spcBef>
              <a:buFont typeface="Arial"/>
              <a:buChar char="•"/>
            </a:pPr>
            <a:r>
              <a:rPr lang="en-US" sz="2270" b="1" u="none" strike="noStrike" dirty="0">
                <a:solidFill>
                  <a:srgbClr val="415861"/>
                </a:solidFill>
                <a:latin typeface="Arial Bold"/>
                <a:ea typeface="Arial Bold"/>
                <a:cs typeface="Arial Bold"/>
                <a:sym typeface="Arial Bold"/>
              </a:rPr>
              <a:t>Ground reports from Down To Earth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577707" y="7936345"/>
            <a:ext cx="8681593" cy="303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79"/>
              </a:lnSpc>
              <a:spcBef>
                <a:spcPct val="0"/>
              </a:spcBef>
            </a:pPr>
            <a:r>
              <a:rPr lang="en-US" sz="1842" u="none" strike="noStrike" dirty="0">
                <a:solidFill>
                  <a:srgbClr val="415861"/>
                </a:solidFill>
                <a:latin typeface="Arial"/>
                <a:ea typeface="Arial"/>
                <a:cs typeface="Arial"/>
                <a:sym typeface="Arial"/>
                <a:hlinkClick r:id="rId10"/>
              </a:rPr>
              <a:t>On-the-ground reporting shows distress sale, trader power, and farmer constraints.</a:t>
            </a:r>
            <a:endParaRPr lang="en-US" sz="1842" u="none" strike="noStrike" dirty="0">
              <a:solidFill>
                <a:srgbClr val="41586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8114395" y="8480422"/>
            <a:ext cx="7622835" cy="374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0113" lvl="1" indent="-245056" algn="l">
              <a:lnSpc>
                <a:spcPts val="3178"/>
              </a:lnSpc>
              <a:spcBef>
                <a:spcPct val="0"/>
              </a:spcBef>
              <a:buFont typeface="Arial"/>
              <a:buChar char="•"/>
            </a:pPr>
            <a:r>
              <a:rPr lang="en-US" sz="2270" b="1" u="none" strike="noStrike" dirty="0">
                <a:solidFill>
                  <a:srgbClr val="415861"/>
                </a:solidFill>
                <a:latin typeface="Arial Bold"/>
                <a:ea typeface="Arial Bold"/>
                <a:cs typeface="Arial Bold"/>
                <a:sym typeface="Arial Bold"/>
              </a:rPr>
              <a:t>The wire Farm-Gate economics – Ground report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375759" y="8878234"/>
            <a:ext cx="8637151" cy="303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79"/>
              </a:lnSpc>
              <a:spcBef>
                <a:spcPct val="0"/>
              </a:spcBef>
            </a:pPr>
            <a:r>
              <a:rPr lang="en-US" sz="1842" dirty="0">
                <a:solidFill>
                  <a:srgbClr val="415861"/>
                </a:solidFill>
                <a:latin typeface="Arial"/>
                <a:ea typeface="Arial"/>
                <a:cs typeface="Arial"/>
                <a:sym typeface="Arial"/>
                <a:hlinkClick r:id="rId11"/>
              </a:rPr>
              <a:t>Reason why farmers dump their tomatoes on roads while city prices stay high</a:t>
            </a:r>
            <a:endParaRPr lang="en-US" sz="1842" u="none" strike="noStrike" dirty="0">
              <a:solidFill>
                <a:srgbClr val="41586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" name="Group 41"/>
          <p:cNvGrpSpPr/>
          <p:nvPr/>
        </p:nvGrpSpPr>
        <p:grpSpPr>
          <a:xfrm>
            <a:off x="14762045" y="28727"/>
            <a:ext cx="3331588" cy="1684306"/>
            <a:chOff x="0" y="0"/>
            <a:chExt cx="4442117" cy="2245741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442079" cy="2245741"/>
            </a:xfrm>
            <a:custGeom>
              <a:avLst/>
              <a:gdLst/>
              <a:ahLst/>
              <a:cxnLst/>
              <a:rect l="l" t="t" r="r" b="b"/>
              <a:pathLst>
                <a:path w="4442079" h="2245741">
                  <a:moveTo>
                    <a:pt x="0" y="0"/>
                  </a:moveTo>
                  <a:lnTo>
                    <a:pt x="4442079" y="0"/>
                  </a:lnTo>
                  <a:lnTo>
                    <a:pt x="4442079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</p:grpSp>
      <p:sp>
        <p:nvSpPr>
          <p:cNvPr id="47" name="Freeform 62">
            <a:extLst>
              <a:ext uri="{FF2B5EF4-FFF2-40B4-BE49-F238E27FC236}">
                <a16:creationId xmlns:a16="http://schemas.microsoft.com/office/drawing/2014/main" id="{48803D02-881A-D173-914E-71A282A204FD}"/>
              </a:ext>
            </a:extLst>
          </p:cNvPr>
          <p:cNvSpPr/>
          <p:nvPr/>
        </p:nvSpPr>
        <p:spPr>
          <a:xfrm>
            <a:off x="2327626" y="181720"/>
            <a:ext cx="1608815" cy="989255"/>
          </a:xfrm>
          <a:custGeom>
            <a:avLst/>
            <a:gdLst/>
            <a:ahLst/>
            <a:cxnLst/>
            <a:rect l="l" t="t" r="r" b="b"/>
            <a:pathLst>
              <a:path w="1608815" h="989255">
                <a:moveTo>
                  <a:pt x="0" y="0"/>
                </a:moveTo>
                <a:lnTo>
                  <a:pt x="1608814" y="0"/>
                </a:lnTo>
                <a:lnTo>
                  <a:pt x="1608814" y="989255"/>
                </a:lnTo>
                <a:lnTo>
                  <a:pt x="0" y="98925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48" name="Oval 47" descr="Your startup LOGO">
            <a:extLst>
              <a:ext uri="{FF2B5EF4-FFF2-40B4-BE49-F238E27FC236}">
                <a16:creationId xmlns:a16="http://schemas.microsoft.com/office/drawing/2014/main" id="{41B1B34C-80FC-248F-5C0E-B75C436F35C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751946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Smooth Operators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764</Words>
  <Application>Microsoft Office PowerPoint</Application>
  <PresentationFormat>Custom</PresentationFormat>
  <Paragraphs>172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Arial</vt:lpstr>
      <vt:lpstr>Arial Bold Italics</vt:lpstr>
      <vt:lpstr>Times New Roman Bold</vt:lpstr>
      <vt:lpstr>Arial Bold</vt:lpstr>
      <vt:lpstr>Anton</vt:lpstr>
      <vt:lpstr>Garamond Bold</vt:lpstr>
      <vt:lpstr>Canva Sans Bold</vt:lpstr>
      <vt:lpstr>Calibri (MS)</vt:lpstr>
      <vt:lpstr>Calibri</vt:lpstr>
      <vt:lpstr>Bernoru SemiCondensed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SIH2025-IDEA-Presentation-Format (3).pptx</dc:title>
  <cp:lastModifiedBy>Divyansh Balooni</cp:lastModifiedBy>
  <cp:revision>2</cp:revision>
  <dcterms:created xsi:type="dcterms:W3CDTF">2006-08-16T00:00:00Z</dcterms:created>
  <dcterms:modified xsi:type="dcterms:W3CDTF">2026-09-10T14:59:00Z</dcterms:modified>
  <dc:identifier>DAHUa3QpPAw</dc:identifier>
</cp:coreProperties>
</file>